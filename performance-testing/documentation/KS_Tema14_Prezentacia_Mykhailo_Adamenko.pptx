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35 s.</a:t>
            </a:r>
          </a:p>
          <a:p/>
          <a:p>
            <a:r>
              <a:t>Predstavujem tému výkonnostného testovania. Aplikácia môže správne vykonať požadovanú operáciu, no používateľ na ňu môže príliš dlho čakať. Najprv vysvetlím, čo pri výkone sledujeme a ako sa testuje. Potom postup ukážem na aplikácii z mojej bakalárskej práce, ktorá tu slúži ako praktický príklad.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45 s.</a:t>
            </a:r>
          </a:p>
          <a:p/>
          <a:p>
            <a:r>
              <a:t>Ide o ilustráciu otázky, nie o výsledok merania. Funkčné testovanie overuje, či aplikácia vracia správne výsledky. Výkonnostné testovanie dopĺňa otázku, ako sa správa pri rôznom počte požiadaviek alebo pri rastúcom objeme údajov. Pomalá odpoveď môže používateľa prinútiť opakovať akciu a zhoršiť jeho skúsenosť.</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50 s.</a:t>
            </a:r>
          </a:p>
          <a:p/>
          <a:p>
            <a:r>
              <a:t>Rýchlosť opisuje čas odpovede. Spoľahlivosť sledujeme cez chyby a kontroly správnosti odpovedí; samotná absencia chybového kódu nestačí. Stabilita znamená, či sa správanie počas testu výrazne nezhoršuje. V dokumentácii je tiež priepustnosť, teda počet vybavených požiadaviek za sekundu. Pri meraní možno sledovať aj využitie procesora a pamäte.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55 s.</a:t>
            </a:r>
          </a:p>
          <a:p/>
          <a:p>
            <a:r>
              <a:t>Odborné názvy sú záťažový test (load), stresový test (stress) a vytrvalostný test (endurance alebo soak). Prvý overuje očakávanú prevádzku, druhý hľadá hranice a tretí sleduje vývoj v čase. Diagramy sú len schémy. Neskoršia praktická ukážka používa pri treťom type skrátený trojminútový beh, ktorý nenahrádza dlhodobý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45 s.</a:t>
            </a:r>
          </a:p>
          <a:p/>
          <a:p>
            <a:r>
              <a:t>Požiadavky stanovíme pred meraním, aby sme ich dodatočne neprispôsobovali výsledkom. Pri opakovaní zachováme rovnaké údaje, scenár a podmienky. Hľadanie príčiny má vychádzať z merania jednotlivých častí spracovania. Po úprave znovu overíme výkon aj správnosť. Tento postup teraz prenesiem do konkrétnej aplikácie.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55 s.</a:t>
            </a:r>
          </a:p>
          <a:p/>
          <a:p>
            <a:r>
              <a:t>Aplikácia vznikla v mojej bakalárskej práci a v tomto projekte slúži ako testovaný príklad. Nejde o prezentáciu celej bakalárskej práce. Vybral som učiteľský prehľad kurzu, pretože spracúva údaje o študentoch, pokroku a výsledkoch. Screenshot je zo skutočnej aplikácie so syntetickými údajmi. Technicky ide o Laravel, Vue/Inertia a SQLite. Meria sa odpoveď servera, nie dokončenie vykreslenia v prehliadači.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65 s.</a:t>
            </a:r>
          </a:p>
          <a:p/>
          <a:p>
            <a:r>
              <a:t>Veľkosť kurzu a súčasná záťaž sú dve rozdielne veci. Kurzy obsahovali 50, 250 a 1000 študentov, každý s piatimi pokusmi o test a kurzom s 20 lekciami. Bežná záťaž mala 20 virtuálnych používateľov; 1000 študentov teda neznamená 1000 ľudí online naraz. Automatizované požiadavky vytváral nástroj k6. Cieľ PR-01 bol p95 pod 800 ms pri 20 používateľoch a PR-02 pod 1500 ms pri 50 používateľoch, vždy v stabilnej fáze pre najväčší kurz. Ďalej sa overovali chyby pod 1 %, stabilita a správne výsledky. Testy bežali lokálne, na vývojovom serveri s jedným PHP workerom.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60 s.</a:t>
            </a:r>
          </a:p>
          <a:p/>
          <a:p>
            <a:r>
              <a:t>Porovnávame celé behy pri rovnakej bežnej záťaži a troch veľkostiach kurzu. Ide o p95, nie priemernú odpoveď; päť percent zaznamenaných odpovedí môže byť pomalších. Pri najväčšom kurze bolo 11 prerušených iterácií, preto nulová chybovosť dokončených volaní sama osebe nepotvrdila spoľahlivosť. Lokálny server vybavoval požiadavky jedným workerom, čo vytváralo čakanie vo fronte. Výsledky nevyjadrujú kapacitu produkčného nasadenia.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60 s.</a:t>
            </a:r>
          </a:p>
          <a:p/>
          <a:p>
            <a:r>
              <a:t>Meranie častí kódu ukázalo problém hlavne v spracovaní údajov v PHP. Opakovane sa dekódovali odpovede pri prechode všetkými otázkami a pokusmi. Po zmene sa odpovede pripravia raz na pokus. Vybrali sme iba potrebné stĺpce, odstránili nepotrebné načítanie používateľa pri výsledku aj ďalšie triedenie už zoradených pokusov. História odpovedí sa zachovala. Porovnanie úplných výstupov analytiky sa zhodovalo pre všetky tri kurzy. Prešlo 51 automatizovaných testov s 244 kontrolami. Samostatný profil kontroléra klesol z mediánu 1028,5 ms na 412,7 ms; ide o iné meranie než čas odpovede pri záťaži.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55 s.</a:t>
            </a:r>
          </a:p>
          <a:p/>
          <a:p>
            <a:r>
              <a:t>Hodnoty p95 za celý bežný záťažový beh sú 20,595 s pred úpravou a 9,069 s po úprave, zobrazené zaokrúhlene. Pokles je 55,97 %. Nejde o priemer ani o garanciu času každej odpovede. Dáta a testovací scenár boli rovnaké. Pri vyhodnotení požiadavky používame iba stabilnú fázu: po úprave 9,102 s, čo je stále výrazne nad cieľom 0,8 s. Zlepšenie výkonu preto automaticky neznamená splnenie požiadaviek.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55 s.</a:t>
            </a:r>
          </a:p>
          <a:p/>
          <a:p>
            <a:r>
              <a:t>Na tomto slajde zhrniem dosiahnuté výsledky. Pri kurze s 1000 študentmi a 20 súčasných používateľoch sa sledovaný čas odozvy skrátil približne o 56 %. Ide o hranicu pre 95 zo 100 dokončených odpovedí, vysvetlenú na predchádzajúcom slajde. Celé výstupy prehľadu boli zhodné pred úpravou aj po nej vo všetkých troch veľkostiach kurzu. Prešlo 51 automatizovaných testov s 244 kontrolami. V nameraných behoch bežnej záťaže po úprave neboli zaznamenané chyby ani prerušené iterácie. Tieto výsledky sa vzťahujú na vykonané lokálne merania.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Odporúčaný čas: 45 s.</a:t>
            </a:r>
          </a:p>
          <a:p/>
          <a:p>
            <a:r>
              <a:t>Hlavným prínosom projektu je prepojenie merania s konkrétnou úpravou aplikácie. Najprv sme identifikovali opakované spracovanie údajov, potom ho obmedzili a rovnakými testami overili účinok. Výsledkom je namerané zrýchlenie pri zachovaní správnosti prehľadu. Aplikácia z bakalárskej práce tak poslúžila ako praktický príklad využitia výkonnostného testovania. Ďakujem za pozornosť.</a:t>
            </a:r>
          </a:p>
          <a:p/>
          <a:p>
            <a:r>
              <a:t>Použité zdroje:</a:t>
            </a:r>
          </a:p>
          <a:p>
            <a:r>
              <a:t>1. KS_ZS_202627_semestralny_projekt_temy.pdf, téma 14; i-ks_semestralne_temy_hodnotenie.pdf.</a:t>
            </a:r>
          </a:p>
          <a:p>
            <a:r>
              <a:t>2. Mykhailo Adamenko: bakalárska práca, BP_FINAL.pdf.</a:t>
            </a:r>
          </a:p>
          <a:p>
            <a:r>
              <a:t>3. Grafana k6: https://grafana.com/docs/k6/latest/using-k6/metrics/ ; https://grafana.com/docs/k6/latest/using-k6/scenarios/ ; https://grafana.com/docs/k6/latest/using-k6/cookies/ .</a:t>
            </a:r>
          </a:p>
          <a:p>
            <a:r>
              <a:t>4. Laravel: https://laravel.com/docs/12.x/database ; https://laravel.com/docs/12.x/eloquent-mutators .</a:t>
            </a:r>
          </a:p>
          <a:p>
            <a:r>
              <a:t>5. PHP: https://www.php.net/manual/en/features.commandline.webserver.php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19B7A4"/>
                </a:solidFill>
                <a:latin typeface="Aptos"/>
              </a:defRPr>
            </a:pPr>
            <a:r>
              <a:t>SEMESTRÁLNY PROJEKT · TÉMA 14</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F4F7FA"/>
                </a:solidFill>
                <a:latin typeface="Aptos"/>
              </a:defRPr>
            </a:pPr>
            <a:r>
              <a:t>Výkonnostné testovanie</a:t>
            </a:r>
          </a:p>
        </p:txBody>
      </p:sp>
      <p:cxnSp>
        <p:nvCxnSpPr>
          <p:cNvPr id="5" name="Connector 4"/>
          <p:cNvCxnSpPr/>
          <p:nvPr/>
        </p:nvCxnSpPr>
        <p:spPr>
          <a:xfrm>
            <a:off x="594360" y="6437376"/>
            <a:ext cx="10991088" cy="0"/>
          </a:xfrm>
          <a:prstGeom prst="line">
            <a:avLst/>
          </a:prstGeom>
          <a:ln w="12700">
            <a:solidFill>
              <a:srgbClr val="1B2B41"/>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91A4B9"/>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19B7A4"/>
                </a:solidFill>
                <a:latin typeface="Aptos"/>
              </a:defRPr>
            </a:pPr>
            <a:r>
              <a:t>01 / 12</a:t>
            </a:r>
          </a:p>
        </p:txBody>
      </p:sp>
      <p:sp>
        <p:nvSpPr>
          <p:cNvPr id="8" name="TextBox 7"/>
          <p:cNvSpPr txBox="1"/>
          <p:nvPr/>
        </p:nvSpPr>
        <p:spPr>
          <a:xfrm>
            <a:off x="685800" y="2139696"/>
            <a:ext cx="6675120" cy="1371600"/>
          </a:xfrm>
          <a:prstGeom prst="rect">
            <a:avLst/>
          </a:prstGeom>
          <a:noFill/>
        </p:spPr>
        <p:txBody>
          <a:bodyPr wrap="square" lIns="0" rIns="0" tIns="0" bIns="0">
            <a:spAutoFit/>
          </a:bodyPr>
          <a:lstStyle/>
          <a:p>
            <a:pPr>
              <a:spcAft>
                <a:spcPts val="500"/>
              </a:spcAft>
              <a:defRPr sz="3400" b="1">
                <a:solidFill>
                  <a:srgbClr val="F4F7FA"/>
                </a:solidFill>
                <a:latin typeface="Aptos"/>
              </a:defRPr>
            </a:pPr>
            <a:r>
              <a:t>Funguje aplikácia dobre,</a:t>
            </a:r>
          </a:p>
          <a:p>
            <a:pPr>
              <a:spcAft>
                <a:spcPts val="500"/>
              </a:spcAft>
              <a:defRPr sz="3400" b="1">
                <a:solidFill>
                  <a:srgbClr val="F4F7FA"/>
                </a:solidFill>
                <a:latin typeface="Aptos"/>
              </a:defRPr>
            </a:pPr>
            <a:r>
              <a:t>aj keď ju používa viac ľudí?</a:t>
            </a:r>
          </a:p>
        </p:txBody>
      </p:sp>
      <p:sp>
        <p:nvSpPr>
          <p:cNvPr id="9" name="TextBox 8"/>
          <p:cNvSpPr txBox="1"/>
          <p:nvPr/>
        </p:nvSpPr>
        <p:spPr>
          <a:xfrm>
            <a:off x="713232" y="3995928"/>
            <a:ext cx="6217920" cy="777240"/>
          </a:xfrm>
          <a:prstGeom prst="rect">
            <a:avLst/>
          </a:prstGeom>
          <a:noFill/>
        </p:spPr>
        <p:txBody>
          <a:bodyPr wrap="square" lIns="0" rIns="0" tIns="0" bIns="0">
            <a:spAutoFit/>
          </a:bodyPr>
          <a:lstStyle/>
          <a:p>
            <a:pPr>
              <a:spcAft>
                <a:spcPts val="500"/>
              </a:spcAft>
              <a:defRPr sz="2300" b="0">
                <a:solidFill>
                  <a:srgbClr val="AEBED0"/>
                </a:solidFill>
                <a:latin typeface="Aptos"/>
              </a:defRPr>
            </a:pPr>
            <a:r>
              <a:t>Rýchlosť · spoľahlivosť · stabilita</a:t>
            </a:r>
          </a:p>
        </p:txBody>
      </p:sp>
      <p:sp>
        <p:nvSpPr>
          <p:cNvPr id="10" name="TextBox 9"/>
          <p:cNvSpPr txBox="1"/>
          <p:nvPr/>
        </p:nvSpPr>
        <p:spPr>
          <a:xfrm>
            <a:off x="713232" y="5715000"/>
            <a:ext cx="6949440" cy="320040"/>
          </a:xfrm>
          <a:prstGeom prst="rect">
            <a:avLst/>
          </a:prstGeom>
          <a:noFill/>
        </p:spPr>
        <p:txBody>
          <a:bodyPr wrap="square" lIns="0" rIns="0" tIns="0" bIns="0">
            <a:spAutoFit/>
          </a:bodyPr>
          <a:lstStyle/>
          <a:p>
            <a:pPr>
              <a:spcAft>
                <a:spcPts val="500"/>
              </a:spcAft>
              <a:defRPr sz="1600" b="0">
                <a:solidFill>
                  <a:srgbClr val="AEBED0"/>
                </a:solidFill>
                <a:latin typeface="Aptos"/>
              </a:defRPr>
            </a:pPr>
            <a:r>
              <a:t>Mykhailo Adamenko  ·  FEI STU  ·  2026/2027</a:t>
            </a:r>
          </a:p>
        </p:txBody>
      </p:sp>
      <p:sp>
        <p:nvSpPr>
          <p:cNvPr id="11" name="Rounded Rectangle 10"/>
          <p:cNvSpPr/>
          <p:nvPr/>
        </p:nvSpPr>
        <p:spPr>
          <a:xfrm>
            <a:off x="8229600" y="2286000"/>
            <a:ext cx="2743200" cy="1965960"/>
          </a:xfrm>
          <a:prstGeom prst="roundRect">
            <a:avLst>
              <a:gd name="adj" fmla="val 12000"/>
            </a:avLst>
          </a:prstGeom>
          <a:solidFill>
            <a:srgbClr val="1B2B4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8449056" y="2514600"/>
            <a:ext cx="2304288" cy="1298448"/>
          </a:xfrm>
          <a:prstGeom prst="roundRect">
            <a:avLst>
              <a:gd name="adj" fmla="val 12000"/>
            </a:avLst>
          </a:prstGeom>
          <a:solidFill>
            <a:srgbClr val="101D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 name="Connector 12"/>
          <p:cNvCxnSpPr/>
          <p:nvPr/>
        </p:nvCxnSpPr>
        <p:spPr>
          <a:xfrm>
            <a:off x="9601200" y="4251960"/>
            <a:ext cx="0" cy="411480"/>
          </a:xfrm>
          <a:prstGeom prst="line">
            <a:avLst/>
          </a:prstGeom>
          <a:ln w="635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8961120" y="4663440"/>
            <a:ext cx="1280160" cy="0"/>
          </a:xfrm>
          <a:prstGeom prst="line">
            <a:avLst/>
          </a:prstGeom>
          <a:ln w="63500">
            <a:solidFill>
              <a:srgbClr val="19B7A4"/>
            </a:solidFill>
          </a:ln>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8750808" y="3346703"/>
            <a:ext cx="246888" cy="320040"/>
          </a:xfrm>
          <a:prstGeom prst="roundRect">
            <a:avLst>
              <a:gd name="adj" fmla="val 12000"/>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9208008" y="3072384"/>
            <a:ext cx="246888" cy="594360"/>
          </a:xfrm>
          <a:prstGeom prst="roundRect">
            <a:avLst>
              <a:gd name="adj" fmla="val 12000"/>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9665208" y="2798063"/>
            <a:ext cx="246888" cy="868680"/>
          </a:xfrm>
          <a:prstGeom prst="roundRect">
            <a:avLst>
              <a:gd name="adj" fmla="val 12000"/>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10122408" y="2642615"/>
            <a:ext cx="246888" cy="1024128"/>
          </a:xfrm>
          <a:prstGeom prst="roundRect">
            <a:avLst>
              <a:gd name="adj" fmla="val 12000"/>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01 / PREČO TESTOVAŤ VÝKON?</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Správna odpoveď môže prísť príliš neskoro.</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02 / 12</a:t>
            </a:r>
          </a:p>
        </p:txBody>
      </p:sp>
      <p:sp>
        <p:nvSpPr>
          <p:cNvPr id="8" name="Rounded Rectangle 7"/>
          <p:cNvSpPr/>
          <p:nvPr/>
        </p:nvSpPr>
        <p:spPr>
          <a:xfrm>
            <a:off x="731520" y="2011680"/>
            <a:ext cx="5047488" cy="3127248"/>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286000"/>
            <a:ext cx="4498848" cy="502920"/>
          </a:xfrm>
          <a:prstGeom prst="rect">
            <a:avLst/>
          </a:prstGeom>
          <a:noFill/>
        </p:spPr>
        <p:txBody>
          <a:bodyPr wrap="square" lIns="0" rIns="0" tIns="0" bIns="0">
            <a:spAutoFit/>
          </a:bodyPr>
          <a:lstStyle/>
          <a:p>
            <a:pPr>
              <a:spcAft>
                <a:spcPts val="500"/>
              </a:spcAft>
              <a:defRPr sz="2400" b="1">
                <a:solidFill>
                  <a:srgbClr val="172B42"/>
                </a:solidFill>
                <a:latin typeface="Aptos"/>
              </a:defRPr>
            </a:pPr>
            <a:r>
              <a:t>Jeden používateľ</a:t>
            </a:r>
          </a:p>
        </p:txBody>
      </p:sp>
      <p:sp>
        <p:nvSpPr>
          <p:cNvPr id="10" name="Oval 9"/>
          <p:cNvSpPr/>
          <p:nvPr/>
        </p:nvSpPr>
        <p:spPr>
          <a:xfrm>
            <a:off x="1097280" y="3191256"/>
            <a:ext cx="192024" cy="192024"/>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1065276" y="3419856"/>
            <a:ext cx="256032" cy="384048"/>
          </a:xfrm>
          <a:prstGeom prst="roundRect">
            <a:avLst>
              <a:gd name="adj" fmla="val 12000"/>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840480" y="3328416"/>
            <a:ext cx="438912" cy="457200"/>
          </a:xfrm>
          <a:prstGeom prst="rect">
            <a:avLst/>
          </a:prstGeom>
          <a:noFill/>
        </p:spPr>
        <p:txBody>
          <a:bodyPr wrap="square" lIns="0" rIns="0" tIns="0" bIns="0">
            <a:spAutoFit/>
          </a:bodyPr>
          <a:lstStyle/>
          <a:p>
            <a:pPr>
              <a:spcAft>
                <a:spcPts val="500"/>
              </a:spcAft>
              <a:defRPr sz="2800" b="0">
                <a:solidFill>
                  <a:srgbClr val="627387"/>
                </a:solidFill>
                <a:latin typeface="Aptos"/>
              </a:defRPr>
            </a:pPr>
            <a:r>
              <a:t>→</a:t>
            </a:r>
          </a:p>
        </p:txBody>
      </p:sp>
      <p:sp>
        <p:nvSpPr>
          <p:cNvPr id="13" name="Rounded Rectangle 12"/>
          <p:cNvSpPr/>
          <p:nvPr/>
        </p:nvSpPr>
        <p:spPr>
          <a:xfrm>
            <a:off x="4498848" y="3108960"/>
            <a:ext cx="822960" cy="685800"/>
          </a:xfrm>
          <a:prstGeom prst="roundRect">
            <a:avLst>
              <a:gd name="adj" fmla="val 12000"/>
            </a:avLst>
          </a:prstGeom>
          <a:solidFill>
            <a:srgbClr val="172B4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05840" y="4343400"/>
            <a:ext cx="4480560" cy="411480"/>
          </a:xfrm>
          <a:prstGeom prst="rect">
            <a:avLst/>
          </a:prstGeom>
          <a:noFill/>
        </p:spPr>
        <p:txBody>
          <a:bodyPr wrap="square" lIns="0" rIns="0" tIns="0" bIns="0">
            <a:spAutoFit/>
          </a:bodyPr>
          <a:lstStyle/>
          <a:p>
            <a:pPr>
              <a:spcAft>
                <a:spcPts val="500"/>
              </a:spcAft>
              <a:defRPr sz="2300" b="1">
                <a:solidFill>
                  <a:srgbClr val="172B42"/>
                </a:solidFill>
                <a:latin typeface="Aptos"/>
              </a:defRPr>
            </a:pPr>
            <a:r>
              <a:t>Rýchla odpoveď?</a:t>
            </a:r>
          </a:p>
        </p:txBody>
      </p:sp>
      <p:sp>
        <p:nvSpPr>
          <p:cNvPr id="15" name="Rounded Rectangle 14"/>
          <p:cNvSpPr/>
          <p:nvPr/>
        </p:nvSpPr>
        <p:spPr>
          <a:xfrm>
            <a:off x="6400800" y="2011680"/>
            <a:ext cx="5047488" cy="3127248"/>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675120" y="2286000"/>
            <a:ext cx="4498848" cy="502920"/>
          </a:xfrm>
          <a:prstGeom prst="rect">
            <a:avLst/>
          </a:prstGeom>
          <a:noFill/>
        </p:spPr>
        <p:txBody>
          <a:bodyPr wrap="square" lIns="0" rIns="0" tIns="0" bIns="0">
            <a:spAutoFit/>
          </a:bodyPr>
          <a:lstStyle/>
          <a:p>
            <a:pPr>
              <a:spcAft>
                <a:spcPts val="500"/>
              </a:spcAft>
              <a:defRPr sz="2400" b="1">
                <a:solidFill>
                  <a:srgbClr val="172B42"/>
                </a:solidFill>
                <a:latin typeface="Aptos"/>
              </a:defRPr>
            </a:pPr>
            <a:r>
              <a:t>Veľa používateľov naraz</a:t>
            </a:r>
          </a:p>
        </p:txBody>
      </p:sp>
      <p:sp>
        <p:nvSpPr>
          <p:cNvPr id="17" name="Oval 16"/>
          <p:cNvSpPr/>
          <p:nvPr/>
        </p:nvSpPr>
        <p:spPr>
          <a:xfrm>
            <a:off x="6766560" y="3191256"/>
            <a:ext cx="192024" cy="192024"/>
          </a:xfrm>
          <a:prstGeom prst="ellipse">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6734556" y="3419856"/>
            <a:ext cx="256032" cy="38404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7205472" y="3191256"/>
            <a:ext cx="192024" cy="192024"/>
          </a:xfrm>
          <a:prstGeom prst="ellipse">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7173468" y="3419856"/>
            <a:ext cx="256032" cy="38404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7644383" y="3191256"/>
            <a:ext cx="192024" cy="192024"/>
          </a:xfrm>
          <a:prstGeom prst="ellipse">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612379" y="3419856"/>
            <a:ext cx="256032" cy="38404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8083296" y="3191256"/>
            <a:ext cx="192024" cy="192024"/>
          </a:xfrm>
          <a:prstGeom prst="ellipse">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8051292" y="3419856"/>
            <a:ext cx="256032" cy="38404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8522208" y="3191256"/>
            <a:ext cx="192024" cy="192024"/>
          </a:xfrm>
          <a:prstGeom prst="ellipse">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8490204" y="3419856"/>
            <a:ext cx="256032" cy="38404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8961120" y="3191256"/>
            <a:ext cx="192024" cy="192024"/>
          </a:xfrm>
          <a:prstGeom prst="ellipse">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929116" y="3419856"/>
            <a:ext cx="256032" cy="38404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509760" y="3328416"/>
            <a:ext cx="438912" cy="457200"/>
          </a:xfrm>
          <a:prstGeom prst="rect">
            <a:avLst/>
          </a:prstGeom>
          <a:noFill/>
        </p:spPr>
        <p:txBody>
          <a:bodyPr wrap="square" lIns="0" rIns="0" tIns="0" bIns="0">
            <a:spAutoFit/>
          </a:bodyPr>
          <a:lstStyle/>
          <a:p>
            <a:pPr>
              <a:spcAft>
                <a:spcPts val="500"/>
              </a:spcAft>
              <a:defRPr sz="2800" b="0">
                <a:solidFill>
                  <a:srgbClr val="627387"/>
                </a:solidFill>
                <a:latin typeface="Aptos"/>
              </a:defRPr>
            </a:pPr>
            <a:r>
              <a:t>→</a:t>
            </a:r>
          </a:p>
        </p:txBody>
      </p:sp>
      <p:sp>
        <p:nvSpPr>
          <p:cNvPr id="30" name="Rounded Rectangle 29"/>
          <p:cNvSpPr/>
          <p:nvPr/>
        </p:nvSpPr>
        <p:spPr>
          <a:xfrm>
            <a:off x="10168128" y="3108960"/>
            <a:ext cx="822960" cy="685800"/>
          </a:xfrm>
          <a:prstGeom prst="roundRect">
            <a:avLst>
              <a:gd name="adj" fmla="val 12000"/>
            </a:avLst>
          </a:prstGeom>
          <a:solidFill>
            <a:srgbClr val="172B4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675120" y="4343400"/>
            <a:ext cx="4480560" cy="411480"/>
          </a:xfrm>
          <a:prstGeom prst="rect">
            <a:avLst/>
          </a:prstGeom>
          <a:noFill/>
        </p:spPr>
        <p:txBody>
          <a:bodyPr wrap="square" lIns="0" rIns="0" tIns="0" bIns="0">
            <a:spAutoFit/>
          </a:bodyPr>
          <a:lstStyle/>
          <a:p>
            <a:pPr>
              <a:spcAft>
                <a:spcPts val="500"/>
              </a:spcAft>
              <a:defRPr sz="2300" b="1">
                <a:solidFill>
                  <a:srgbClr val="172B42"/>
                </a:solidFill>
                <a:latin typeface="Aptos"/>
              </a:defRPr>
            </a:pPr>
            <a:r>
              <a:t>Čakanie alebo chyby?</a:t>
            </a:r>
          </a:p>
        </p:txBody>
      </p:sp>
      <p:sp>
        <p:nvSpPr>
          <p:cNvPr id="32" name="TextBox 31"/>
          <p:cNvSpPr txBox="1"/>
          <p:nvPr/>
        </p:nvSpPr>
        <p:spPr>
          <a:xfrm>
            <a:off x="758952" y="5632704"/>
            <a:ext cx="10698480" cy="438912"/>
          </a:xfrm>
          <a:prstGeom prst="rect">
            <a:avLst/>
          </a:prstGeom>
          <a:noFill/>
        </p:spPr>
        <p:txBody>
          <a:bodyPr wrap="square" lIns="0" rIns="0" tIns="0" bIns="0">
            <a:spAutoFit/>
          </a:bodyPr>
          <a:lstStyle/>
          <a:p>
            <a:pPr>
              <a:spcAft>
                <a:spcPts val="500"/>
              </a:spcAft>
              <a:defRPr sz="2300" b="1">
                <a:solidFill>
                  <a:srgbClr val="078476"/>
                </a:solidFill>
                <a:latin typeface="Aptos"/>
              </a:defRPr>
            </a:pPr>
            <a:r>
              <a:t>To, čo funguje pri jednom človeku, treba overiť aj pri väčšej záťaži.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02 / ČO SLEDUJEME?</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Tri otázky, ktorým rozumie aj používateľ.</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03 / 12</a:t>
            </a:r>
          </a:p>
        </p:txBody>
      </p:sp>
      <p:sp>
        <p:nvSpPr>
          <p:cNvPr id="8" name="Rounded Rectangle 7"/>
          <p:cNvSpPr/>
          <p:nvPr/>
        </p:nvSpPr>
        <p:spPr>
          <a:xfrm>
            <a:off x="713232" y="2194560"/>
            <a:ext cx="3456432" cy="320040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69264" y="2468880"/>
            <a:ext cx="2651760" cy="566928"/>
          </a:xfrm>
          <a:prstGeom prst="rect">
            <a:avLst/>
          </a:prstGeom>
          <a:noFill/>
        </p:spPr>
        <p:txBody>
          <a:bodyPr wrap="square" lIns="0" rIns="0" tIns="0" bIns="0">
            <a:spAutoFit/>
          </a:bodyPr>
          <a:lstStyle/>
          <a:p>
            <a:pPr>
              <a:spcAft>
                <a:spcPts val="500"/>
              </a:spcAft>
              <a:defRPr sz="3600" b="1">
                <a:solidFill>
                  <a:srgbClr val="078476"/>
                </a:solidFill>
                <a:latin typeface="Aptos"/>
              </a:defRPr>
            </a:pPr>
            <a:r>
              <a:t>01</a:t>
            </a:r>
          </a:p>
        </p:txBody>
      </p:sp>
      <p:sp>
        <p:nvSpPr>
          <p:cNvPr id="10" name="TextBox 9"/>
          <p:cNvSpPr txBox="1"/>
          <p:nvPr/>
        </p:nvSpPr>
        <p:spPr>
          <a:xfrm>
            <a:off x="969264" y="3374136"/>
            <a:ext cx="2971800" cy="457200"/>
          </a:xfrm>
          <a:prstGeom prst="rect">
            <a:avLst/>
          </a:prstGeom>
          <a:noFill/>
        </p:spPr>
        <p:txBody>
          <a:bodyPr wrap="square" lIns="0" rIns="0" tIns="0" bIns="0">
            <a:spAutoFit/>
          </a:bodyPr>
          <a:lstStyle/>
          <a:p>
            <a:pPr>
              <a:spcAft>
                <a:spcPts val="500"/>
              </a:spcAft>
              <a:defRPr sz="2500" b="1">
                <a:solidFill>
                  <a:srgbClr val="172B42"/>
                </a:solidFill>
                <a:latin typeface="Aptos"/>
              </a:defRPr>
            </a:pPr>
            <a:r>
              <a:t>Rýchlosť</a:t>
            </a:r>
          </a:p>
        </p:txBody>
      </p:sp>
      <p:sp>
        <p:nvSpPr>
          <p:cNvPr id="11" name="TextBox 10"/>
          <p:cNvSpPr txBox="1"/>
          <p:nvPr/>
        </p:nvSpPr>
        <p:spPr>
          <a:xfrm>
            <a:off x="969264" y="4114800"/>
            <a:ext cx="2962656" cy="850392"/>
          </a:xfrm>
          <a:prstGeom prst="rect">
            <a:avLst/>
          </a:prstGeom>
          <a:noFill/>
        </p:spPr>
        <p:txBody>
          <a:bodyPr wrap="square" lIns="0" rIns="0" tIns="0" bIns="0">
            <a:spAutoFit/>
          </a:bodyPr>
          <a:lstStyle/>
          <a:p>
            <a:pPr>
              <a:spcAft>
                <a:spcPts val="500"/>
              </a:spcAft>
              <a:defRPr sz="2100" b="0">
                <a:solidFill>
                  <a:srgbClr val="627387"/>
                </a:solidFill>
                <a:latin typeface="Aptos"/>
              </a:defRPr>
            </a:pPr>
            <a:r>
              <a:t>Ako dlho čakám</a:t>
            </a:r>
          </a:p>
          <a:p>
            <a:pPr>
              <a:spcAft>
                <a:spcPts val="500"/>
              </a:spcAft>
              <a:defRPr sz="2100" b="0">
                <a:solidFill>
                  <a:srgbClr val="627387"/>
                </a:solidFill>
                <a:latin typeface="Aptos"/>
              </a:defRPr>
            </a:pPr>
            <a:r>
              <a:t>na odpoveď?</a:t>
            </a:r>
          </a:p>
        </p:txBody>
      </p:sp>
      <p:sp>
        <p:nvSpPr>
          <p:cNvPr id="12" name="Rounded Rectangle 11"/>
          <p:cNvSpPr/>
          <p:nvPr/>
        </p:nvSpPr>
        <p:spPr>
          <a:xfrm>
            <a:off x="4462272" y="2194560"/>
            <a:ext cx="3456432" cy="320040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18304" y="2468880"/>
            <a:ext cx="2651760" cy="566928"/>
          </a:xfrm>
          <a:prstGeom prst="rect">
            <a:avLst/>
          </a:prstGeom>
          <a:noFill/>
        </p:spPr>
        <p:txBody>
          <a:bodyPr wrap="square" lIns="0" rIns="0" tIns="0" bIns="0">
            <a:spAutoFit/>
          </a:bodyPr>
          <a:lstStyle/>
          <a:p>
            <a:pPr>
              <a:spcAft>
                <a:spcPts val="500"/>
              </a:spcAft>
              <a:defRPr sz="3600" b="1">
                <a:solidFill>
                  <a:srgbClr val="078476"/>
                </a:solidFill>
                <a:latin typeface="Aptos"/>
              </a:defRPr>
            </a:pPr>
            <a:r>
              <a:t>02</a:t>
            </a:r>
          </a:p>
        </p:txBody>
      </p:sp>
      <p:sp>
        <p:nvSpPr>
          <p:cNvPr id="14" name="TextBox 13"/>
          <p:cNvSpPr txBox="1"/>
          <p:nvPr/>
        </p:nvSpPr>
        <p:spPr>
          <a:xfrm>
            <a:off x="4718304" y="3374136"/>
            <a:ext cx="2971800" cy="457200"/>
          </a:xfrm>
          <a:prstGeom prst="rect">
            <a:avLst/>
          </a:prstGeom>
          <a:noFill/>
        </p:spPr>
        <p:txBody>
          <a:bodyPr wrap="square" lIns="0" rIns="0" tIns="0" bIns="0">
            <a:spAutoFit/>
          </a:bodyPr>
          <a:lstStyle/>
          <a:p>
            <a:pPr>
              <a:spcAft>
                <a:spcPts val="500"/>
              </a:spcAft>
              <a:defRPr sz="2500" b="1">
                <a:solidFill>
                  <a:srgbClr val="172B42"/>
                </a:solidFill>
                <a:latin typeface="Aptos"/>
              </a:defRPr>
            </a:pPr>
            <a:r>
              <a:t>Spoľahlivosť</a:t>
            </a:r>
          </a:p>
        </p:txBody>
      </p:sp>
      <p:sp>
        <p:nvSpPr>
          <p:cNvPr id="15" name="TextBox 14"/>
          <p:cNvSpPr txBox="1"/>
          <p:nvPr/>
        </p:nvSpPr>
        <p:spPr>
          <a:xfrm>
            <a:off x="4718304" y="4114800"/>
            <a:ext cx="2962656" cy="850392"/>
          </a:xfrm>
          <a:prstGeom prst="rect">
            <a:avLst/>
          </a:prstGeom>
          <a:noFill/>
        </p:spPr>
        <p:txBody>
          <a:bodyPr wrap="square" lIns="0" rIns="0" tIns="0" bIns="0">
            <a:spAutoFit/>
          </a:bodyPr>
          <a:lstStyle/>
          <a:p>
            <a:pPr>
              <a:spcAft>
                <a:spcPts val="500"/>
              </a:spcAft>
              <a:defRPr sz="2100" b="0">
                <a:solidFill>
                  <a:srgbClr val="627387"/>
                </a:solidFill>
                <a:latin typeface="Aptos"/>
              </a:defRPr>
            </a:pPr>
            <a:r>
              <a:t>Dokončí sa moja</a:t>
            </a:r>
          </a:p>
          <a:p>
            <a:pPr>
              <a:spcAft>
                <a:spcPts val="500"/>
              </a:spcAft>
              <a:defRPr sz="2100" b="0">
                <a:solidFill>
                  <a:srgbClr val="627387"/>
                </a:solidFill>
                <a:latin typeface="Aptos"/>
              </a:defRPr>
            </a:pPr>
            <a:r>
              <a:t>požiadavka bez chyby?</a:t>
            </a:r>
          </a:p>
        </p:txBody>
      </p:sp>
      <p:sp>
        <p:nvSpPr>
          <p:cNvPr id="16" name="Rounded Rectangle 15"/>
          <p:cNvSpPr/>
          <p:nvPr/>
        </p:nvSpPr>
        <p:spPr>
          <a:xfrm>
            <a:off x="8211311" y="2194560"/>
            <a:ext cx="3456432" cy="320040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467343" y="2468880"/>
            <a:ext cx="2651760" cy="566928"/>
          </a:xfrm>
          <a:prstGeom prst="rect">
            <a:avLst/>
          </a:prstGeom>
          <a:noFill/>
        </p:spPr>
        <p:txBody>
          <a:bodyPr wrap="square" lIns="0" rIns="0" tIns="0" bIns="0">
            <a:spAutoFit/>
          </a:bodyPr>
          <a:lstStyle/>
          <a:p>
            <a:pPr>
              <a:spcAft>
                <a:spcPts val="500"/>
              </a:spcAft>
              <a:defRPr sz="3600" b="1">
                <a:solidFill>
                  <a:srgbClr val="078476"/>
                </a:solidFill>
                <a:latin typeface="Aptos"/>
              </a:defRPr>
            </a:pPr>
            <a:r>
              <a:t>03</a:t>
            </a:r>
          </a:p>
        </p:txBody>
      </p:sp>
      <p:sp>
        <p:nvSpPr>
          <p:cNvPr id="18" name="TextBox 17"/>
          <p:cNvSpPr txBox="1"/>
          <p:nvPr/>
        </p:nvSpPr>
        <p:spPr>
          <a:xfrm>
            <a:off x="8467343" y="3374136"/>
            <a:ext cx="2971800" cy="457200"/>
          </a:xfrm>
          <a:prstGeom prst="rect">
            <a:avLst/>
          </a:prstGeom>
          <a:noFill/>
        </p:spPr>
        <p:txBody>
          <a:bodyPr wrap="square" lIns="0" rIns="0" tIns="0" bIns="0">
            <a:spAutoFit/>
          </a:bodyPr>
          <a:lstStyle/>
          <a:p>
            <a:pPr>
              <a:spcAft>
                <a:spcPts val="500"/>
              </a:spcAft>
              <a:defRPr sz="2500" b="1">
                <a:solidFill>
                  <a:srgbClr val="172B42"/>
                </a:solidFill>
                <a:latin typeface="Aptos"/>
              </a:defRPr>
            </a:pPr>
            <a:r>
              <a:t>Stabilita</a:t>
            </a:r>
          </a:p>
        </p:txBody>
      </p:sp>
      <p:sp>
        <p:nvSpPr>
          <p:cNvPr id="19" name="TextBox 18"/>
          <p:cNvSpPr txBox="1"/>
          <p:nvPr/>
        </p:nvSpPr>
        <p:spPr>
          <a:xfrm>
            <a:off x="8467343" y="4114800"/>
            <a:ext cx="2962656" cy="850392"/>
          </a:xfrm>
          <a:prstGeom prst="rect">
            <a:avLst/>
          </a:prstGeom>
          <a:noFill/>
        </p:spPr>
        <p:txBody>
          <a:bodyPr wrap="square" lIns="0" rIns="0" tIns="0" bIns="0">
            <a:spAutoFit/>
          </a:bodyPr>
          <a:lstStyle/>
          <a:p>
            <a:pPr>
              <a:spcAft>
                <a:spcPts val="500"/>
              </a:spcAft>
              <a:defRPr sz="2100" b="0">
                <a:solidFill>
                  <a:srgbClr val="627387"/>
                </a:solidFill>
                <a:latin typeface="Aptos"/>
              </a:defRPr>
            </a:pPr>
            <a:r>
              <a:t>Funguje aplikácia dobre</a:t>
            </a:r>
          </a:p>
          <a:p>
            <a:pPr>
              <a:spcAft>
                <a:spcPts val="500"/>
              </a:spcAft>
              <a:defRPr sz="2100" b="0">
                <a:solidFill>
                  <a:srgbClr val="627387"/>
                </a:solidFill>
                <a:latin typeface="Aptos"/>
              </a:defRPr>
            </a:pPr>
            <a:r>
              <a:t>aj po dlhšom čase?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03 / AKO SA VÝKON TESTUJE?</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Každý typ testu odpovedá na inú otázku.</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04 / 12</a:t>
            </a:r>
          </a:p>
        </p:txBody>
      </p:sp>
      <p:sp>
        <p:nvSpPr>
          <p:cNvPr id="8" name="Rounded Rectangle 7"/>
          <p:cNvSpPr/>
          <p:nvPr/>
        </p:nvSpPr>
        <p:spPr>
          <a:xfrm>
            <a:off x="713232" y="2103120"/>
            <a:ext cx="3456432" cy="361188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41832" y="2386584"/>
            <a:ext cx="3017520" cy="457200"/>
          </a:xfrm>
          <a:prstGeom prst="rect">
            <a:avLst/>
          </a:prstGeom>
          <a:noFill/>
        </p:spPr>
        <p:txBody>
          <a:bodyPr wrap="square" lIns="0" rIns="0" tIns="0" bIns="0">
            <a:spAutoFit/>
          </a:bodyPr>
          <a:lstStyle/>
          <a:p>
            <a:pPr>
              <a:spcAft>
                <a:spcPts val="500"/>
              </a:spcAft>
              <a:defRPr sz="2300" b="1">
                <a:solidFill>
                  <a:srgbClr val="172B42"/>
                </a:solidFill>
                <a:latin typeface="Aptos"/>
              </a:defRPr>
            </a:pPr>
            <a:r>
              <a:t>Bežná záťaž</a:t>
            </a:r>
          </a:p>
        </p:txBody>
      </p:sp>
      <p:cxnSp>
        <p:nvCxnSpPr>
          <p:cNvPr id="10" name="Connector 9"/>
          <p:cNvCxnSpPr/>
          <p:nvPr/>
        </p:nvCxnSpPr>
        <p:spPr>
          <a:xfrm>
            <a:off x="1078992" y="4434840"/>
            <a:ext cx="2706623"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1078992" y="3200400"/>
            <a:ext cx="0" cy="123444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V="1">
            <a:off x="1078992" y="3821277"/>
            <a:ext cx="405993" cy="613563"/>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484985" y="3821277"/>
            <a:ext cx="1894637" cy="0"/>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3379622" y="3821277"/>
            <a:ext cx="405994" cy="613563"/>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969264" y="4800600"/>
            <a:ext cx="2944368" cy="658368"/>
          </a:xfrm>
          <a:prstGeom prst="rect">
            <a:avLst/>
          </a:prstGeom>
          <a:noFill/>
        </p:spPr>
        <p:txBody>
          <a:bodyPr wrap="square" lIns="0" rIns="0" tIns="0" bIns="0">
            <a:spAutoFit/>
          </a:bodyPr>
          <a:lstStyle/>
          <a:p>
            <a:pPr>
              <a:spcAft>
                <a:spcPts val="500"/>
              </a:spcAft>
              <a:defRPr sz="2000" b="0">
                <a:solidFill>
                  <a:srgbClr val="627387"/>
                </a:solidFill>
                <a:latin typeface="Aptos"/>
              </a:defRPr>
            </a:pPr>
            <a:r>
              <a:t>Zvládne očakávanú prevádzku?</a:t>
            </a:r>
          </a:p>
        </p:txBody>
      </p:sp>
      <p:sp>
        <p:nvSpPr>
          <p:cNvPr id="16" name="Rounded Rectangle 15"/>
          <p:cNvSpPr/>
          <p:nvPr/>
        </p:nvSpPr>
        <p:spPr>
          <a:xfrm>
            <a:off x="4462272" y="2103120"/>
            <a:ext cx="3456432" cy="361188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690872" y="2386584"/>
            <a:ext cx="3017520" cy="457200"/>
          </a:xfrm>
          <a:prstGeom prst="rect">
            <a:avLst/>
          </a:prstGeom>
          <a:noFill/>
        </p:spPr>
        <p:txBody>
          <a:bodyPr wrap="square" lIns="0" rIns="0" tIns="0" bIns="0">
            <a:spAutoFit/>
          </a:bodyPr>
          <a:lstStyle/>
          <a:p>
            <a:pPr>
              <a:spcAft>
                <a:spcPts val="500"/>
              </a:spcAft>
              <a:defRPr sz="2300" b="1">
                <a:solidFill>
                  <a:srgbClr val="172B42"/>
                </a:solidFill>
                <a:latin typeface="Aptos"/>
              </a:defRPr>
            </a:pPr>
            <a:r>
              <a:t>Rastúca záťaž</a:t>
            </a:r>
          </a:p>
        </p:txBody>
      </p:sp>
      <p:cxnSp>
        <p:nvCxnSpPr>
          <p:cNvPr id="18" name="Connector 17"/>
          <p:cNvCxnSpPr/>
          <p:nvPr/>
        </p:nvCxnSpPr>
        <p:spPr>
          <a:xfrm>
            <a:off x="4828032" y="4434840"/>
            <a:ext cx="2706624"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4828032" y="3200400"/>
            <a:ext cx="0" cy="123444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4828032" y="4267504"/>
            <a:ext cx="676656" cy="0"/>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5504688" y="3988612"/>
            <a:ext cx="0" cy="278892"/>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5504688" y="3988612"/>
            <a:ext cx="676656" cy="0"/>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6181344" y="3709720"/>
            <a:ext cx="0" cy="278892"/>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6181344" y="3709720"/>
            <a:ext cx="676656" cy="0"/>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6858000" y="3319272"/>
            <a:ext cx="0" cy="390448"/>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58000" y="3319272"/>
            <a:ext cx="676656" cy="0"/>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718304" y="4800600"/>
            <a:ext cx="2944368" cy="658368"/>
          </a:xfrm>
          <a:prstGeom prst="rect">
            <a:avLst/>
          </a:prstGeom>
          <a:noFill/>
        </p:spPr>
        <p:txBody>
          <a:bodyPr wrap="square" lIns="0" rIns="0" tIns="0" bIns="0">
            <a:spAutoFit/>
          </a:bodyPr>
          <a:lstStyle/>
          <a:p>
            <a:pPr>
              <a:spcAft>
                <a:spcPts val="500"/>
              </a:spcAft>
              <a:defRPr sz="2000" b="0">
                <a:solidFill>
                  <a:srgbClr val="627387"/>
                </a:solidFill>
                <a:latin typeface="Aptos"/>
              </a:defRPr>
            </a:pPr>
            <a:r>
              <a:t>Kedy začne mať problémy?</a:t>
            </a:r>
          </a:p>
        </p:txBody>
      </p:sp>
      <p:sp>
        <p:nvSpPr>
          <p:cNvPr id="28" name="Rounded Rectangle 27"/>
          <p:cNvSpPr/>
          <p:nvPr/>
        </p:nvSpPr>
        <p:spPr>
          <a:xfrm>
            <a:off x="8211311" y="2103120"/>
            <a:ext cx="3456432" cy="361188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439911" y="2386584"/>
            <a:ext cx="3017520" cy="457200"/>
          </a:xfrm>
          <a:prstGeom prst="rect">
            <a:avLst/>
          </a:prstGeom>
          <a:noFill/>
        </p:spPr>
        <p:txBody>
          <a:bodyPr wrap="square" lIns="0" rIns="0" tIns="0" bIns="0">
            <a:spAutoFit/>
          </a:bodyPr>
          <a:lstStyle/>
          <a:p>
            <a:pPr>
              <a:spcAft>
                <a:spcPts val="500"/>
              </a:spcAft>
              <a:defRPr sz="2300" b="1">
                <a:solidFill>
                  <a:srgbClr val="172B42"/>
                </a:solidFill>
                <a:latin typeface="Aptos"/>
              </a:defRPr>
            </a:pPr>
            <a:r>
              <a:t>Dlhšia prevádzka</a:t>
            </a:r>
          </a:p>
        </p:txBody>
      </p:sp>
      <p:cxnSp>
        <p:nvCxnSpPr>
          <p:cNvPr id="30" name="Connector 29"/>
          <p:cNvCxnSpPr/>
          <p:nvPr/>
        </p:nvCxnSpPr>
        <p:spPr>
          <a:xfrm>
            <a:off x="8577072" y="4434840"/>
            <a:ext cx="2706623"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8577072" y="3200400"/>
            <a:ext cx="0" cy="123444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8577072" y="3821277"/>
            <a:ext cx="2706624" cy="0"/>
          </a:xfrm>
          <a:prstGeom prst="line">
            <a:avLst/>
          </a:prstGeom>
          <a:ln w="38100">
            <a:solidFill>
              <a:srgbClr val="19B7A4"/>
            </a:solidFill>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67343" y="4800600"/>
            <a:ext cx="2944368" cy="658368"/>
          </a:xfrm>
          <a:prstGeom prst="rect">
            <a:avLst/>
          </a:prstGeom>
          <a:noFill/>
        </p:spPr>
        <p:txBody>
          <a:bodyPr wrap="square" lIns="0" rIns="0" tIns="0" bIns="0">
            <a:spAutoFit/>
          </a:bodyPr>
          <a:lstStyle/>
          <a:p>
            <a:pPr>
              <a:spcAft>
                <a:spcPts val="500"/>
              </a:spcAft>
              <a:defRPr sz="2000" b="0">
                <a:solidFill>
                  <a:srgbClr val="627387"/>
                </a:solidFill>
                <a:latin typeface="Aptos"/>
              </a:defRPr>
            </a:pPr>
            <a:r>
              <a:t>Nezhoršuje sa časom?</a:t>
            </a:r>
          </a:p>
        </p:txBody>
      </p:sp>
      <p:sp>
        <p:nvSpPr>
          <p:cNvPr id="34" name="TextBox 33"/>
          <p:cNvSpPr txBox="1"/>
          <p:nvPr/>
        </p:nvSpPr>
        <p:spPr>
          <a:xfrm>
            <a:off x="758952" y="5943600"/>
            <a:ext cx="10607040" cy="246888"/>
          </a:xfrm>
          <a:prstGeom prst="rect">
            <a:avLst/>
          </a:prstGeom>
          <a:noFill/>
        </p:spPr>
        <p:txBody>
          <a:bodyPr wrap="square" lIns="0" rIns="0" tIns="0" bIns="0">
            <a:spAutoFit/>
          </a:bodyPr>
          <a:lstStyle/>
          <a:p>
            <a:pPr>
              <a:spcAft>
                <a:spcPts val="500"/>
              </a:spcAft>
              <a:defRPr sz="1300" b="0">
                <a:solidFill>
                  <a:srgbClr val="627387"/>
                </a:solidFill>
                <a:latin typeface="Aptos"/>
              </a:defRPr>
            </a:pPr>
            <a:r>
              <a:t>Schémy znázorňujú počet súčasných používateľov v čase.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04 / POSTUP TESTOVANIA</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Najprv cieľ. Potom meranie a porovnanie.</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05 / 12</a:t>
            </a:r>
          </a:p>
        </p:txBody>
      </p:sp>
      <p:sp>
        <p:nvSpPr>
          <p:cNvPr id="8" name="Rounded Rectangle 7"/>
          <p:cNvSpPr/>
          <p:nvPr/>
        </p:nvSpPr>
        <p:spPr>
          <a:xfrm>
            <a:off x="731520" y="2423160"/>
            <a:ext cx="2404872" cy="2432304"/>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960120" y="2688336"/>
            <a:ext cx="594360" cy="594360"/>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52144" y="2756916"/>
            <a:ext cx="274320" cy="365760"/>
          </a:xfrm>
          <a:prstGeom prst="rect">
            <a:avLst/>
          </a:prstGeom>
          <a:noFill/>
        </p:spPr>
        <p:txBody>
          <a:bodyPr wrap="square" lIns="0" rIns="0" tIns="0" bIns="0">
            <a:spAutoFit/>
          </a:bodyPr>
          <a:lstStyle/>
          <a:p>
            <a:pPr>
              <a:spcAft>
                <a:spcPts val="500"/>
              </a:spcAft>
              <a:defRPr sz="2400" b="1">
                <a:solidFill>
                  <a:srgbClr val="F4F7FA"/>
                </a:solidFill>
                <a:latin typeface="Aptos"/>
              </a:defRPr>
            </a:pPr>
            <a:r>
              <a:t>1</a:t>
            </a:r>
          </a:p>
        </p:txBody>
      </p:sp>
      <p:sp>
        <p:nvSpPr>
          <p:cNvPr id="11" name="TextBox 10"/>
          <p:cNvSpPr txBox="1"/>
          <p:nvPr/>
        </p:nvSpPr>
        <p:spPr>
          <a:xfrm>
            <a:off x="960120" y="3611880"/>
            <a:ext cx="1965960" cy="914400"/>
          </a:xfrm>
          <a:prstGeom prst="rect">
            <a:avLst/>
          </a:prstGeom>
          <a:noFill/>
        </p:spPr>
        <p:txBody>
          <a:bodyPr wrap="square" lIns="0" rIns="0" tIns="0" bIns="0">
            <a:spAutoFit/>
          </a:bodyPr>
          <a:lstStyle/>
          <a:p>
            <a:pPr>
              <a:spcAft>
                <a:spcPts val="500"/>
              </a:spcAft>
              <a:defRPr sz="2200" b="1">
                <a:solidFill>
                  <a:srgbClr val="172B42"/>
                </a:solidFill>
                <a:latin typeface="Aptos"/>
              </a:defRPr>
            </a:pPr>
            <a:r>
              <a:t>Určiť</a:t>
            </a:r>
          </a:p>
          <a:p>
            <a:pPr>
              <a:spcAft>
                <a:spcPts val="500"/>
              </a:spcAft>
              <a:defRPr sz="2200" b="1">
                <a:solidFill>
                  <a:srgbClr val="172B42"/>
                </a:solidFill>
                <a:latin typeface="Aptos"/>
              </a:defRPr>
            </a:pPr>
            <a:r>
              <a:t>očakávania</a:t>
            </a:r>
          </a:p>
        </p:txBody>
      </p:sp>
      <p:sp>
        <p:nvSpPr>
          <p:cNvPr id="12" name="TextBox 11"/>
          <p:cNvSpPr txBox="1"/>
          <p:nvPr/>
        </p:nvSpPr>
        <p:spPr>
          <a:xfrm>
            <a:off x="3209544" y="3310128"/>
            <a:ext cx="347472" cy="457200"/>
          </a:xfrm>
          <a:prstGeom prst="rect">
            <a:avLst/>
          </a:prstGeom>
          <a:noFill/>
        </p:spPr>
        <p:txBody>
          <a:bodyPr wrap="square" lIns="0" rIns="0" tIns="0" bIns="0">
            <a:spAutoFit/>
          </a:bodyPr>
          <a:lstStyle/>
          <a:p>
            <a:pPr>
              <a:spcAft>
                <a:spcPts val="500"/>
              </a:spcAft>
              <a:defRPr sz="2600" b="0">
                <a:solidFill>
                  <a:srgbClr val="078476"/>
                </a:solidFill>
                <a:latin typeface="Aptos"/>
              </a:defRPr>
            </a:pPr>
            <a:r>
              <a:t>→</a:t>
            </a:r>
          </a:p>
        </p:txBody>
      </p:sp>
      <p:sp>
        <p:nvSpPr>
          <p:cNvPr id="13" name="Rounded Rectangle 12"/>
          <p:cNvSpPr/>
          <p:nvPr/>
        </p:nvSpPr>
        <p:spPr>
          <a:xfrm>
            <a:off x="3584448" y="2423160"/>
            <a:ext cx="2404872" cy="2432304"/>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3813048" y="2688336"/>
            <a:ext cx="594360" cy="594360"/>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005072" y="2756916"/>
            <a:ext cx="274320" cy="365760"/>
          </a:xfrm>
          <a:prstGeom prst="rect">
            <a:avLst/>
          </a:prstGeom>
          <a:noFill/>
        </p:spPr>
        <p:txBody>
          <a:bodyPr wrap="square" lIns="0" rIns="0" tIns="0" bIns="0">
            <a:spAutoFit/>
          </a:bodyPr>
          <a:lstStyle/>
          <a:p>
            <a:pPr>
              <a:spcAft>
                <a:spcPts val="500"/>
              </a:spcAft>
              <a:defRPr sz="2400" b="1">
                <a:solidFill>
                  <a:srgbClr val="F4F7FA"/>
                </a:solidFill>
                <a:latin typeface="Aptos"/>
              </a:defRPr>
            </a:pPr>
            <a:r>
              <a:t>2</a:t>
            </a:r>
          </a:p>
        </p:txBody>
      </p:sp>
      <p:sp>
        <p:nvSpPr>
          <p:cNvPr id="16" name="TextBox 15"/>
          <p:cNvSpPr txBox="1"/>
          <p:nvPr/>
        </p:nvSpPr>
        <p:spPr>
          <a:xfrm>
            <a:off x="3813048" y="3611880"/>
            <a:ext cx="1965960" cy="914400"/>
          </a:xfrm>
          <a:prstGeom prst="rect">
            <a:avLst/>
          </a:prstGeom>
          <a:noFill/>
        </p:spPr>
        <p:txBody>
          <a:bodyPr wrap="square" lIns="0" rIns="0" tIns="0" bIns="0">
            <a:spAutoFit/>
          </a:bodyPr>
          <a:lstStyle/>
          <a:p>
            <a:pPr>
              <a:spcAft>
                <a:spcPts val="500"/>
              </a:spcAft>
              <a:defRPr sz="2200" b="1">
                <a:solidFill>
                  <a:srgbClr val="172B42"/>
                </a:solidFill>
                <a:latin typeface="Aptos"/>
              </a:defRPr>
            </a:pPr>
            <a:r>
              <a:t>Zmerať</a:t>
            </a:r>
          </a:p>
          <a:p>
            <a:pPr>
              <a:spcAft>
                <a:spcPts val="500"/>
              </a:spcAft>
              <a:defRPr sz="2200" b="1">
                <a:solidFill>
                  <a:srgbClr val="172B42"/>
                </a:solidFill>
                <a:latin typeface="Aptos"/>
              </a:defRPr>
            </a:pPr>
            <a:r>
              <a:t>správanie</a:t>
            </a:r>
          </a:p>
        </p:txBody>
      </p:sp>
      <p:sp>
        <p:nvSpPr>
          <p:cNvPr id="17" name="TextBox 16"/>
          <p:cNvSpPr txBox="1"/>
          <p:nvPr/>
        </p:nvSpPr>
        <p:spPr>
          <a:xfrm>
            <a:off x="6062472" y="3310128"/>
            <a:ext cx="347472" cy="457200"/>
          </a:xfrm>
          <a:prstGeom prst="rect">
            <a:avLst/>
          </a:prstGeom>
          <a:noFill/>
        </p:spPr>
        <p:txBody>
          <a:bodyPr wrap="square" lIns="0" rIns="0" tIns="0" bIns="0">
            <a:spAutoFit/>
          </a:bodyPr>
          <a:lstStyle/>
          <a:p>
            <a:pPr>
              <a:spcAft>
                <a:spcPts val="500"/>
              </a:spcAft>
              <a:defRPr sz="2600" b="0">
                <a:solidFill>
                  <a:srgbClr val="078476"/>
                </a:solidFill>
                <a:latin typeface="Aptos"/>
              </a:defRPr>
            </a:pPr>
            <a:r>
              <a:t>→</a:t>
            </a:r>
          </a:p>
        </p:txBody>
      </p:sp>
      <p:sp>
        <p:nvSpPr>
          <p:cNvPr id="18" name="Rounded Rectangle 17"/>
          <p:cNvSpPr/>
          <p:nvPr/>
        </p:nvSpPr>
        <p:spPr>
          <a:xfrm>
            <a:off x="6437376" y="2423160"/>
            <a:ext cx="2404872" cy="2432304"/>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6665976" y="2688336"/>
            <a:ext cx="594360" cy="594360"/>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58000" y="2756916"/>
            <a:ext cx="274320" cy="365760"/>
          </a:xfrm>
          <a:prstGeom prst="rect">
            <a:avLst/>
          </a:prstGeom>
          <a:noFill/>
        </p:spPr>
        <p:txBody>
          <a:bodyPr wrap="square" lIns="0" rIns="0" tIns="0" bIns="0">
            <a:spAutoFit/>
          </a:bodyPr>
          <a:lstStyle/>
          <a:p>
            <a:pPr>
              <a:spcAft>
                <a:spcPts val="500"/>
              </a:spcAft>
              <a:defRPr sz="2400" b="1">
                <a:solidFill>
                  <a:srgbClr val="F4F7FA"/>
                </a:solidFill>
                <a:latin typeface="Aptos"/>
              </a:defRPr>
            </a:pPr>
            <a:r>
              <a:t>3</a:t>
            </a:r>
          </a:p>
        </p:txBody>
      </p:sp>
      <p:sp>
        <p:nvSpPr>
          <p:cNvPr id="21" name="TextBox 20"/>
          <p:cNvSpPr txBox="1"/>
          <p:nvPr/>
        </p:nvSpPr>
        <p:spPr>
          <a:xfrm>
            <a:off x="6665976" y="3611880"/>
            <a:ext cx="1965960" cy="914400"/>
          </a:xfrm>
          <a:prstGeom prst="rect">
            <a:avLst/>
          </a:prstGeom>
          <a:noFill/>
        </p:spPr>
        <p:txBody>
          <a:bodyPr wrap="square" lIns="0" rIns="0" tIns="0" bIns="0">
            <a:spAutoFit/>
          </a:bodyPr>
          <a:lstStyle/>
          <a:p>
            <a:pPr>
              <a:spcAft>
                <a:spcPts val="500"/>
              </a:spcAft>
              <a:defRPr sz="2200" b="1">
                <a:solidFill>
                  <a:srgbClr val="172B42"/>
                </a:solidFill>
                <a:latin typeface="Aptos"/>
              </a:defRPr>
            </a:pPr>
            <a:r>
              <a:t>Odstrániť</a:t>
            </a:r>
          </a:p>
          <a:p>
            <a:pPr>
              <a:spcAft>
                <a:spcPts val="500"/>
              </a:spcAft>
              <a:defRPr sz="2200" b="1">
                <a:solidFill>
                  <a:srgbClr val="172B42"/>
                </a:solidFill>
                <a:latin typeface="Aptos"/>
              </a:defRPr>
            </a:pPr>
            <a:r>
              <a:t>problém</a:t>
            </a:r>
          </a:p>
        </p:txBody>
      </p:sp>
      <p:sp>
        <p:nvSpPr>
          <p:cNvPr id="22" name="TextBox 21"/>
          <p:cNvSpPr txBox="1"/>
          <p:nvPr/>
        </p:nvSpPr>
        <p:spPr>
          <a:xfrm>
            <a:off x="8915400" y="3310128"/>
            <a:ext cx="347472" cy="457200"/>
          </a:xfrm>
          <a:prstGeom prst="rect">
            <a:avLst/>
          </a:prstGeom>
          <a:noFill/>
        </p:spPr>
        <p:txBody>
          <a:bodyPr wrap="square" lIns="0" rIns="0" tIns="0" bIns="0">
            <a:spAutoFit/>
          </a:bodyPr>
          <a:lstStyle/>
          <a:p>
            <a:pPr>
              <a:spcAft>
                <a:spcPts val="500"/>
              </a:spcAft>
              <a:defRPr sz="2600" b="0">
                <a:solidFill>
                  <a:srgbClr val="078476"/>
                </a:solidFill>
                <a:latin typeface="Aptos"/>
              </a:defRPr>
            </a:pPr>
            <a:r>
              <a:t>→</a:t>
            </a:r>
          </a:p>
        </p:txBody>
      </p:sp>
      <p:sp>
        <p:nvSpPr>
          <p:cNvPr id="23" name="Rounded Rectangle 22"/>
          <p:cNvSpPr/>
          <p:nvPr/>
        </p:nvSpPr>
        <p:spPr>
          <a:xfrm>
            <a:off x="9290304" y="2423160"/>
            <a:ext cx="2404872" cy="2432304"/>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9518904" y="2688336"/>
            <a:ext cx="594360" cy="594360"/>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710928" y="2756916"/>
            <a:ext cx="274320" cy="365760"/>
          </a:xfrm>
          <a:prstGeom prst="rect">
            <a:avLst/>
          </a:prstGeom>
          <a:noFill/>
        </p:spPr>
        <p:txBody>
          <a:bodyPr wrap="square" lIns="0" rIns="0" tIns="0" bIns="0">
            <a:spAutoFit/>
          </a:bodyPr>
          <a:lstStyle/>
          <a:p>
            <a:pPr>
              <a:spcAft>
                <a:spcPts val="500"/>
              </a:spcAft>
              <a:defRPr sz="2400" b="1">
                <a:solidFill>
                  <a:srgbClr val="F4F7FA"/>
                </a:solidFill>
                <a:latin typeface="Aptos"/>
              </a:defRPr>
            </a:pPr>
            <a:r>
              <a:t>4</a:t>
            </a:r>
          </a:p>
        </p:txBody>
      </p:sp>
      <p:sp>
        <p:nvSpPr>
          <p:cNvPr id="26" name="TextBox 25"/>
          <p:cNvSpPr txBox="1"/>
          <p:nvPr/>
        </p:nvSpPr>
        <p:spPr>
          <a:xfrm>
            <a:off x="9518904" y="3611880"/>
            <a:ext cx="1965960" cy="914400"/>
          </a:xfrm>
          <a:prstGeom prst="rect">
            <a:avLst/>
          </a:prstGeom>
          <a:noFill/>
        </p:spPr>
        <p:txBody>
          <a:bodyPr wrap="square" lIns="0" rIns="0" tIns="0" bIns="0">
            <a:spAutoFit/>
          </a:bodyPr>
          <a:lstStyle/>
          <a:p>
            <a:pPr>
              <a:spcAft>
                <a:spcPts val="500"/>
              </a:spcAft>
              <a:defRPr sz="2200" b="1">
                <a:solidFill>
                  <a:srgbClr val="172B42"/>
                </a:solidFill>
                <a:latin typeface="Aptos"/>
              </a:defRPr>
            </a:pPr>
            <a:r>
              <a:t>Zopakovať</a:t>
            </a:r>
          </a:p>
          <a:p>
            <a:pPr>
              <a:spcAft>
                <a:spcPts val="500"/>
              </a:spcAft>
              <a:defRPr sz="2200" b="1">
                <a:solidFill>
                  <a:srgbClr val="172B42"/>
                </a:solidFill>
                <a:latin typeface="Aptos"/>
              </a:defRPr>
            </a:pPr>
            <a:r>
              <a:t>rovnaký test</a:t>
            </a:r>
          </a:p>
        </p:txBody>
      </p:sp>
      <p:sp>
        <p:nvSpPr>
          <p:cNvPr id="27" name="Rounded Rectangle 26"/>
          <p:cNvSpPr/>
          <p:nvPr/>
        </p:nvSpPr>
        <p:spPr>
          <a:xfrm>
            <a:off x="731520" y="5458968"/>
            <a:ext cx="10936224" cy="630936"/>
          </a:xfrm>
          <a:prstGeom prst="roundRect">
            <a:avLst>
              <a:gd name="adj" fmla="val 12000"/>
            </a:avLst>
          </a:prstGeom>
          <a:solidFill>
            <a:srgbClr val="172B4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960120" y="5596128"/>
            <a:ext cx="10424160" cy="365760"/>
          </a:xfrm>
          <a:prstGeom prst="rect">
            <a:avLst/>
          </a:prstGeom>
          <a:noFill/>
        </p:spPr>
        <p:txBody>
          <a:bodyPr wrap="square" lIns="0" rIns="0" tIns="0" bIns="0">
            <a:spAutoFit/>
          </a:bodyPr>
          <a:lstStyle/>
          <a:p>
            <a:pPr>
              <a:spcAft>
                <a:spcPts val="500"/>
              </a:spcAft>
              <a:defRPr sz="2200" b="0">
                <a:solidFill>
                  <a:srgbClr val="F4F7FA"/>
                </a:solidFill>
                <a:latin typeface="Aptos"/>
              </a:defRPr>
            </a:pPr>
            <a:r>
              <a:t>Zrýchlenie má zmysel iba vtedy, keď zostanú výsledky správne.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05 / PRAKTICKÝ PRÍKLAD</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Ukážka na aplikácii z bakalárskej práce</a:t>
            </a:r>
          </a:p>
        </p:txBody>
      </p:sp>
      <p:sp>
        <p:nvSpPr>
          <p:cNvPr id="5" name="TextBox 4"/>
          <p:cNvSpPr txBox="1"/>
          <p:nvPr/>
        </p:nvSpPr>
        <p:spPr>
          <a:xfrm>
            <a:off x="612648" y="1572768"/>
            <a:ext cx="10972800" cy="438912"/>
          </a:xfrm>
          <a:prstGeom prst="rect">
            <a:avLst/>
          </a:prstGeom>
          <a:noFill/>
        </p:spPr>
        <p:txBody>
          <a:bodyPr wrap="square" lIns="0" rIns="0" tIns="0" bIns="0">
            <a:spAutoFit/>
          </a:bodyPr>
          <a:lstStyle/>
          <a:p>
            <a:pPr>
              <a:spcAft>
                <a:spcPts val="500"/>
              </a:spcAft>
              <a:defRPr sz="1600" b="0">
                <a:solidFill>
                  <a:srgbClr val="627387"/>
                </a:solidFill>
                <a:latin typeface="Aptos"/>
              </a:defRPr>
            </a:pPr>
            <a:r>
              <a:t>Webová aplikácia na online vzdelávanie</a:t>
            </a:r>
          </a:p>
        </p:txBody>
      </p:sp>
      <p:cxnSp>
        <p:nvCxnSpPr>
          <p:cNvPr id="6" name="Connector 5"/>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8" name="TextBox 7"/>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06 / 12</a:t>
            </a:r>
          </a:p>
        </p:txBody>
      </p:sp>
      <p:sp>
        <p:nvSpPr>
          <p:cNvPr id="9" name="TextBox 8"/>
          <p:cNvSpPr txBox="1"/>
          <p:nvPr/>
        </p:nvSpPr>
        <p:spPr>
          <a:xfrm>
            <a:off x="731520" y="2414016"/>
            <a:ext cx="3657600" cy="457200"/>
          </a:xfrm>
          <a:prstGeom prst="rect">
            <a:avLst/>
          </a:prstGeom>
          <a:noFill/>
        </p:spPr>
        <p:txBody>
          <a:bodyPr wrap="square" lIns="0" rIns="0" tIns="0" bIns="0">
            <a:spAutoFit/>
          </a:bodyPr>
          <a:lstStyle/>
          <a:p>
            <a:pPr>
              <a:spcAft>
                <a:spcPts val="500"/>
              </a:spcAft>
              <a:defRPr sz="2500" b="1">
                <a:solidFill>
                  <a:srgbClr val="078476"/>
                </a:solidFill>
                <a:latin typeface="Aptos"/>
              </a:defRPr>
            </a:pPr>
            <a:r>
              <a:t>Študent</a:t>
            </a:r>
          </a:p>
        </p:txBody>
      </p:sp>
      <p:sp>
        <p:nvSpPr>
          <p:cNvPr id="10" name="TextBox 9"/>
          <p:cNvSpPr txBox="1"/>
          <p:nvPr/>
        </p:nvSpPr>
        <p:spPr>
          <a:xfrm>
            <a:off x="731520" y="2926080"/>
            <a:ext cx="3685032" cy="758952"/>
          </a:xfrm>
          <a:prstGeom prst="rect">
            <a:avLst/>
          </a:prstGeom>
          <a:noFill/>
        </p:spPr>
        <p:txBody>
          <a:bodyPr wrap="square" lIns="0" rIns="0" tIns="0" bIns="0">
            <a:spAutoFit/>
          </a:bodyPr>
          <a:lstStyle/>
          <a:p>
            <a:pPr>
              <a:spcAft>
                <a:spcPts val="500"/>
              </a:spcAft>
              <a:defRPr sz="2300" b="0">
                <a:solidFill>
                  <a:srgbClr val="172B42"/>
                </a:solidFill>
                <a:latin typeface="Aptos"/>
              </a:defRPr>
            </a:pPr>
            <a:r>
              <a:t>Prechádza lekcie</a:t>
            </a:r>
          </a:p>
          <a:p>
            <a:pPr>
              <a:spcAft>
                <a:spcPts val="500"/>
              </a:spcAft>
              <a:defRPr sz="2300" b="0">
                <a:solidFill>
                  <a:srgbClr val="172B42"/>
                </a:solidFill>
                <a:latin typeface="Aptos"/>
              </a:defRPr>
            </a:pPr>
            <a:r>
              <a:t>a rieši testy.</a:t>
            </a:r>
          </a:p>
        </p:txBody>
      </p:sp>
      <p:sp>
        <p:nvSpPr>
          <p:cNvPr id="11" name="TextBox 10"/>
          <p:cNvSpPr txBox="1"/>
          <p:nvPr/>
        </p:nvSpPr>
        <p:spPr>
          <a:xfrm>
            <a:off x="731520" y="4096512"/>
            <a:ext cx="3657600" cy="457200"/>
          </a:xfrm>
          <a:prstGeom prst="rect">
            <a:avLst/>
          </a:prstGeom>
          <a:noFill/>
        </p:spPr>
        <p:txBody>
          <a:bodyPr wrap="square" lIns="0" rIns="0" tIns="0" bIns="0">
            <a:spAutoFit/>
          </a:bodyPr>
          <a:lstStyle/>
          <a:p>
            <a:pPr>
              <a:spcAft>
                <a:spcPts val="500"/>
              </a:spcAft>
              <a:defRPr sz="2500" b="1">
                <a:solidFill>
                  <a:srgbClr val="078476"/>
                </a:solidFill>
                <a:latin typeface="Aptos"/>
              </a:defRPr>
            </a:pPr>
            <a:r>
              <a:t>Učiteľ</a:t>
            </a:r>
          </a:p>
        </p:txBody>
      </p:sp>
      <p:sp>
        <p:nvSpPr>
          <p:cNvPr id="12" name="TextBox 11"/>
          <p:cNvSpPr txBox="1"/>
          <p:nvPr/>
        </p:nvSpPr>
        <p:spPr>
          <a:xfrm>
            <a:off x="731520" y="4608576"/>
            <a:ext cx="3685032" cy="841248"/>
          </a:xfrm>
          <a:prstGeom prst="rect">
            <a:avLst/>
          </a:prstGeom>
          <a:noFill/>
        </p:spPr>
        <p:txBody>
          <a:bodyPr wrap="square" lIns="0" rIns="0" tIns="0" bIns="0">
            <a:spAutoFit/>
          </a:bodyPr>
          <a:lstStyle/>
          <a:p>
            <a:pPr>
              <a:spcAft>
                <a:spcPts val="500"/>
              </a:spcAft>
              <a:defRPr sz="2300" b="0">
                <a:solidFill>
                  <a:srgbClr val="172B42"/>
                </a:solidFill>
                <a:latin typeface="Aptos"/>
              </a:defRPr>
            </a:pPr>
            <a:r>
              <a:t>Sleduje priebeh štúdia</a:t>
            </a:r>
          </a:p>
          <a:p>
            <a:pPr>
              <a:spcAft>
                <a:spcPts val="500"/>
              </a:spcAft>
              <a:defRPr sz="2300" b="0">
                <a:solidFill>
                  <a:srgbClr val="172B42"/>
                </a:solidFill>
                <a:latin typeface="Aptos"/>
              </a:defRPr>
            </a:pPr>
            <a:r>
              <a:t>a výsledky kurzu.</a:t>
            </a:r>
          </a:p>
        </p:txBody>
      </p:sp>
      <p:sp>
        <p:nvSpPr>
          <p:cNvPr id="13" name="Rounded Rectangle 12"/>
          <p:cNvSpPr/>
          <p:nvPr/>
        </p:nvSpPr>
        <p:spPr>
          <a:xfrm>
            <a:off x="4718304" y="2157984"/>
            <a:ext cx="6867144" cy="402336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application-analytics.png"/>
          <p:cNvPicPr>
            <a:picLocks noChangeAspect="1"/>
          </p:cNvPicPr>
          <p:nvPr/>
        </p:nvPicPr>
        <p:blipFill>
          <a:blip r:embed="rId2"/>
          <a:srcRect b="20504"/>
          <a:stretch>
            <a:fillRect/>
          </a:stretch>
        </p:blipFill>
        <p:spPr>
          <a:xfrm>
            <a:off x="4809744" y="2267712"/>
            <a:ext cx="6675120" cy="3685032"/>
          </a:xfrm>
          <a:prstGeom prst="rect">
            <a:avLst/>
          </a:prstGeom>
        </p:spPr>
      </p:pic>
      <p:sp>
        <p:nvSpPr>
          <p:cNvPr id="15" name="TextBox 14"/>
          <p:cNvSpPr txBox="1"/>
          <p:nvPr/>
        </p:nvSpPr>
        <p:spPr>
          <a:xfrm>
            <a:off x="4892040" y="5971032"/>
            <a:ext cx="6446520" cy="228600"/>
          </a:xfrm>
          <a:prstGeom prst="rect">
            <a:avLst/>
          </a:prstGeom>
          <a:noFill/>
        </p:spPr>
        <p:txBody>
          <a:bodyPr wrap="square" lIns="0" rIns="0" tIns="0" bIns="0">
            <a:spAutoFit/>
          </a:bodyPr>
          <a:lstStyle/>
          <a:p>
            <a:pPr>
              <a:spcAft>
                <a:spcPts val="500"/>
              </a:spcAft>
              <a:defRPr sz="1100" b="0">
                <a:solidFill>
                  <a:srgbClr val="627387"/>
                </a:solidFill>
                <a:latin typeface="Aptos"/>
              </a:defRPr>
            </a:pPr>
            <a:r>
              <a:t>Obrazovka aplikácie s testovacími údajmi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06 / ČO SME OVEROVALI?</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Zvládne prehľad kurzu rast počtu študentov?</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07 / 12</a:t>
            </a:r>
          </a:p>
        </p:txBody>
      </p:sp>
      <p:sp>
        <p:nvSpPr>
          <p:cNvPr id="8" name="Rounded Rectangle 7"/>
          <p:cNvSpPr/>
          <p:nvPr/>
        </p:nvSpPr>
        <p:spPr>
          <a:xfrm>
            <a:off x="731520" y="2176272"/>
            <a:ext cx="3438144" cy="1325880"/>
          </a:xfrm>
          <a:prstGeom prst="roundRect">
            <a:avLst>
              <a:gd name="adj" fmla="val 12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2304288"/>
            <a:ext cx="3072384" cy="585216"/>
          </a:xfrm>
          <a:prstGeom prst="rect">
            <a:avLst/>
          </a:prstGeom>
          <a:noFill/>
        </p:spPr>
        <p:txBody>
          <a:bodyPr wrap="square" lIns="0" rIns="0" tIns="0" bIns="0">
            <a:spAutoFit/>
          </a:bodyPr>
          <a:lstStyle/>
          <a:p>
            <a:pPr>
              <a:spcAft>
                <a:spcPts val="500"/>
              </a:spcAft>
              <a:defRPr sz="3400" b="1">
                <a:solidFill>
                  <a:srgbClr val="078476"/>
                </a:solidFill>
                <a:latin typeface="Aptos"/>
              </a:defRPr>
            </a:pPr>
            <a:r>
              <a:t>50</a:t>
            </a:r>
          </a:p>
        </p:txBody>
      </p:sp>
      <p:sp>
        <p:nvSpPr>
          <p:cNvPr id="10" name="TextBox 9"/>
          <p:cNvSpPr txBox="1"/>
          <p:nvPr/>
        </p:nvSpPr>
        <p:spPr>
          <a:xfrm>
            <a:off x="914400" y="2962656"/>
            <a:ext cx="3072384" cy="274320"/>
          </a:xfrm>
          <a:prstGeom prst="rect">
            <a:avLst/>
          </a:prstGeom>
          <a:noFill/>
        </p:spPr>
        <p:txBody>
          <a:bodyPr wrap="square" lIns="0" rIns="0" tIns="0" bIns="0">
            <a:spAutoFit/>
          </a:bodyPr>
          <a:lstStyle/>
          <a:p>
            <a:pPr>
              <a:spcAft>
                <a:spcPts val="500"/>
              </a:spcAft>
              <a:defRPr sz="1500" b="1">
                <a:solidFill>
                  <a:srgbClr val="172B42"/>
                </a:solidFill>
                <a:latin typeface="Aptos"/>
              </a:defRPr>
            </a:pPr>
            <a:r>
              <a:t>študentov v kurze</a:t>
            </a:r>
          </a:p>
        </p:txBody>
      </p:sp>
      <p:sp>
        <p:nvSpPr>
          <p:cNvPr id="11" name="Rounded Rectangle 10"/>
          <p:cNvSpPr/>
          <p:nvPr/>
        </p:nvSpPr>
        <p:spPr>
          <a:xfrm>
            <a:off x="4480559" y="2176272"/>
            <a:ext cx="3438144" cy="1325880"/>
          </a:xfrm>
          <a:prstGeom prst="roundRect">
            <a:avLst>
              <a:gd name="adj" fmla="val 12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663440" y="2304288"/>
            <a:ext cx="3072384" cy="585216"/>
          </a:xfrm>
          <a:prstGeom prst="rect">
            <a:avLst/>
          </a:prstGeom>
          <a:noFill/>
        </p:spPr>
        <p:txBody>
          <a:bodyPr wrap="square" lIns="0" rIns="0" tIns="0" bIns="0">
            <a:spAutoFit/>
          </a:bodyPr>
          <a:lstStyle/>
          <a:p>
            <a:pPr>
              <a:spcAft>
                <a:spcPts val="500"/>
              </a:spcAft>
              <a:defRPr sz="3400" b="1">
                <a:solidFill>
                  <a:srgbClr val="078476"/>
                </a:solidFill>
                <a:latin typeface="Aptos"/>
              </a:defRPr>
            </a:pPr>
            <a:r>
              <a:t>250</a:t>
            </a:r>
          </a:p>
        </p:txBody>
      </p:sp>
      <p:sp>
        <p:nvSpPr>
          <p:cNvPr id="13" name="TextBox 12"/>
          <p:cNvSpPr txBox="1"/>
          <p:nvPr/>
        </p:nvSpPr>
        <p:spPr>
          <a:xfrm>
            <a:off x="4663440" y="2962656"/>
            <a:ext cx="3072384" cy="274320"/>
          </a:xfrm>
          <a:prstGeom prst="rect">
            <a:avLst/>
          </a:prstGeom>
          <a:noFill/>
        </p:spPr>
        <p:txBody>
          <a:bodyPr wrap="square" lIns="0" rIns="0" tIns="0" bIns="0">
            <a:spAutoFit/>
          </a:bodyPr>
          <a:lstStyle/>
          <a:p>
            <a:pPr>
              <a:spcAft>
                <a:spcPts val="500"/>
              </a:spcAft>
              <a:defRPr sz="1500" b="1">
                <a:solidFill>
                  <a:srgbClr val="172B42"/>
                </a:solidFill>
                <a:latin typeface="Aptos"/>
              </a:defRPr>
            </a:pPr>
            <a:r>
              <a:t>študentov v kurze</a:t>
            </a:r>
          </a:p>
        </p:txBody>
      </p:sp>
      <p:sp>
        <p:nvSpPr>
          <p:cNvPr id="14" name="Rounded Rectangle 13"/>
          <p:cNvSpPr/>
          <p:nvPr/>
        </p:nvSpPr>
        <p:spPr>
          <a:xfrm>
            <a:off x="8229600" y="2176272"/>
            <a:ext cx="3438144" cy="1325880"/>
          </a:xfrm>
          <a:prstGeom prst="roundRect">
            <a:avLst>
              <a:gd name="adj" fmla="val 12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12480" y="2304288"/>
            <a:ext cx="3072384" cy="585216"/>
          </a:xfrm>
          <a:prstGeom prst="rect">
            <a:avLst/>
          </a:prstGeom>
          <a:noFill/>
        </p:spPr>
        <p:txBody>
          <a:bodyPr wrap="square" lIns="0" rIns="0" tIns="0" bIns="0">
            <a:spAutoFit/>
          </a:bodyPr>
          <a:lstStyle/>
          <a:p>
            <a:pPr>
              <a:spcAft>
                <a:spcPts val="500"/>
              </a:spcAft>
              <a:defRPr sz="3400" b="1">
                <a:solidFill>
                  <a:srgbClr val="078476"/>
                </a:solidFill>
                <a:latin typeface="Aptos"/>
              </a:defRPr>
            </a:pPr>
            <a:r>
              <a:t>1 000</a:t>
            </a:r>
          </a:p>
        </p:txBody>
      </p:sp>
      <p:sp>
        <p:nvSpPr>
          <p:cNvPr id="16" name="TextBox 15"/>
          <p:cNvSpPr txBox="1"/>
          <p:nvPr/>
        </p:nvSpPr>
        <p:spPr>
          <a:xfrm>
            <a:off x="8412480" y="2962656"/>
            <a:ext cx="3072384" cy="274320"/>
          </a:xfrm>
          <a:prstGeom prst="rect">
            <a:avLst/>
          </a:prstGeom>
          <a:noFill/>
        </p:spPr>
        <p:txBody>
          <a:bodyPr wrap="square" lIns="0" rIns="0" tIns="0" bIns="0">
            <a:spAutoFit/>
          </a:bodyPr>
          <a:lstStyle/>
          <a:p>
            <a:pPr>
              <a:spcAft>
                <a:spcPts val="500"/>
              </a:spcAft>
              <a:defRPr sz="1500" b="1">
                <a:solidFill>
                  <a:srgbClr val="172B42"/>
                </a:solidFill>
                <a:latin typeface="Aptos"/>
              </a:defRPr>
            </a:pPr>
            <a:r>
              <a:t>študentov v kurze</a:t>
            </a:r>
          </a:p>
        </p:txBody>
      </p:sp>
      <p:sp>
        <p:nvSpPr>
          <p:cNvPr id="17" name="TextBox 16"/>
          <p:cNvSpPr txBox="1"/>
          <p:nvPr/>
        </p:nvSpPr>
        <p:spPr>
          <a:xfrm>
            <a:off x="777240" y="3977639"/>
            <a:ext cx="10652760" cy="457200"/>
          </a:xfrm>
          <a:prstGeom prst="rect">
            <a:avLst/>
          </a:prstGeom>
          <a:noFill/>
        </p:spPr>
        <p:txBody>
          <a:bodyPr wrap="square" lIns="0" rIns="0" tIns="0" bIns="0">
            <a:spAutoFit/>
          </a:bodyPr>
          <a:lstStyle/>
          <a:p>
            <a:pPr>
              <a:spcAft>
                <a:spcPts val="500"/>
              </a:spcAft>
              <a:defRPr sz="2600" b="1">
                <a:solidFill>
                  <a:srgbClr val="172B42"/>
                </a:solidFill>
                <a:latin typeface="Aptos"/>
              </a:defRPr>
            </a:pPr>
            <a:r>
              <a:t>Rovnaký test pred úpravou aj po nej.</a:t>
            </a:r>
          </a:p>
        </p:txBody>
      </p:sp>
      <p:sp>
        <p:nvSpPr>
          <p:cNvPr id="18" name="Rounded Rectangle 17"/>
          <p:cNvSpPr/>
          <p:nvPr/>
        </p:nvSpPr>
        <p:spPr>
          <a:xfrm>
            <a:off x="731520" y="4864608"/>
            <a:ext cx="10936224" cy="1197864"/>
          </a:xfrm>
          <a:prstGeom prst="roundRect">
            <a:avLst>
              <a:gd name="adj" fmla="val 12000"/>
            </a:avLst>
          </a:prstGeom>
          <a:solidFill>
            <a:srgbClr val="172B4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78408" y="5047488"/>
            <a:ext cx="10378440" cy="384048"/>
          </a:xfrm>
          <a:prstGeom prst="rect">
            <a:avLst/>
          </a:prstGeom>
          <a:noFill/>
        </p:spPr>
        <p:txBody>
          <a:bodyPr wrap="square" lIns="0" rIns="0" tIns="0" bIns="0">
            <a:spAutoFit/>
          </a:bodyPr>
          <a:lstStyle/>
          <a:p>
            <a:pPr>
              <a:spcAft>
                <a:spcPts val="500"/>
              </a:spcAft>
              <a:defRPr sz="2300" b="1">
                <a:solidFill>
                  <a:srgbClr val="F4F7FA"/>
                </a:solidFill>
                <a:latin typeface="Aptos"/>
              </a:defRPr>
            </a:pPr>
            <a:r>
              <a:t>Cieľ pri 20 súčasných používateľoch: odpoveď do 0,8 s.</a:t>
            </a:r>
          </a:p>
        </p:txBody>
      </p:sp>
      <p:sp>
        <p:nvSpPr>
          <p:cNvPr id="20" name="TextBox 19"/>
          <p:cNvSpPr txBox="1"/>
          <p:nvPr/>
        </p:nvSpPr>
        <p:spPr>
          <a:xfrm>
            <a:off x="987552" y="5559552"/>
            <a:ext cx="10332720" cy="292608"/>
          </a:xfrm>
          <a:prstGeom prst="rect">
            <a:avLst/>
          </a:prstGeom>
          <a:noFill/>
        </p:spPr>
        <p:txBody>
          <a:bodyPr wrap="square" lIns="0" rIns="0" tIns="0" bIns="0">
            <a:spAutoFit/>
          </a:bodyPr>
          <a:lstStyle/>
          <a:p>
            <a:pPr>
              <a:spcAft>
                <a:spcPts val="500"/>
              </a:spcAft>
              <a:defRPr sz="1600" b="0">
                <a:solidFill>
                  <a:srgbClr val="AEBED0"/>
                </a:solidFill>
                <a:latin typeface="Aptos"/>
              </a:defRPr>
            </a:pPr>
            <a:r>
              <a:t>Požadovaná hranica pre 95 zo 100 odpovedí.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19B7A4"/>
                </a:solidFill>
                <a:latin typeface="Aptos"/>
              </a:defRPr>
            </a:pPr>
            <a:r>
              <a:t>07 / ZISTENÝ PROBLÉM</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F4F7FA"/>
                </a:solidFill>
                <a:latin typeface="Aptos"/>
              </a:defRPr>
            </a:pPr>
            <a:r>
              <a:t>Pri väčšom kurze používateľ dlho čakal.</a:t>
            </a:r>
          </a:p>
        </p:txBody>
      </p:sp>
      <p:cxnSp>
        <p:nvCxnSpPr>
          <p:cNvPr id="5" name="Connector 4"/>
          <p:cNvCxnSpPr/>
          <p:nvPr/>
        </p:nvCxnSpPr>
        <p:spPr>
          <a:xfrm>
            <a:off x="594360" y="6437376"/>
            <a:ext cx="10991088" cy="0"/>
          </a:xfrm>
          <a:prstGeom prst="line">
            <a:avLst/>
          </a:prstGeom>
          <a:ln w="12700">
            <a:solidFill>
              <a:srgbClr val="1B2B41"/>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91A4B9"/>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19B7A4"/>
                </a:solidFill>
                <a:latin typeface="Aptos"/>
              </a:defRPr>
            </a:pPr>
            <a:r>
              <a:t>08 / 12</a:t>
            </a:r>
          </a:p>
        </p:txBody>
      </p:sp>
      <p:sp>
        <p:nvSpPr>
          <p:cNvPr id="8" name="TextBox 7"/>
          <p:cNvSpPr txBox="1"/>
          <p:nvPr/>
        </p:nvSpPr>
        <p:spPr>
          <a:xfrm>
            <a:off x="768096" y="2286000"/>
            <a:ext cx="2651760" cy="411480"/>
          </a:xfrm>
          <a:prstGeom prst="rect">
            <a:avLst/>
          </a:prstGeom>
          <a:noFill/>
        </p:spPr>
        <p:txBody>
          <a:bodyPr wrap="square" lIns="0" rIns="0" tIns="0" bIns="0">
            <a:spAutoFit/>
          </a:bodyPr>
          <a:lstStyle/>
          <a:p>
            <a:pPr>
              <a:spcAft>
                <a:spcPts val="500"/>
              </a:spcAft>
              <a:defRPr sz="2200" b="0">
                <a:solidFill>
                  <a:srgbClr val="F4F7FA"/>
                </a:solidFill>
                <a:latin typeface="Aptos"/>
              </a:defRPr>
            </a:pPr>
            <a:r>
              <a:t>50 študentov</a:t>
            </a:r>
          </a:p>
        </p:txBody>
      </p:sp>
      <p:sp>
        <p:nvSpPr>
          <p:cNvPr id="9" name="Rounded Rectangle 8"/>
          <p:cNvSpPr/>
          <p:nvPr/>
        </p:nvSpPr>
        <p:spPr>
          <a:xfrm>
            <a:off x="3383280" y="2368296"/>
            <a:ext cx="149626" cy="256032"/>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697498" y="2263140"/>
            <a:ext cx="1508760" cy="457200"/>
          </a:xfrm>
          <a:prstGeom prst="rect">
            <a:avLst/>
          </a:prstGeom>
          <a:noFill/>
        </p:spPr>
        <p:txBody>
          <a:bodyPr wrap="square" lIns="0" rIns="0" tIns="0" bIns="0">
            <a:spAutoFit/>
          </a:bodyPr>
          <a:lstStyle/>
          <a:p>
            <a:pPr>
              <a:spcAft>
                <a:spcPts val="500"/>
              </a:spcAft>
              <a:defRPr sz="2200" b="1">
                <a:solidFill>
                  <a:srgbClr val="F4F7FA"/>
                </a:solidFill>
                <a:latin typeface="Aptos"/>
              </a:defRPr>
            </a:pPr>
            <a:r>
              <a:t>0,51 s</a:t>
            </a:r>
          </a:p>
        </p:txBody>
      </p:sp>
      <p:sp>
        <p:nvSpPr>
          <p:cNvPr id="11" name="TextBox 10"/>
          <p:cNvSpPr txBox="1"/>
          <p:nvPr/>
        </p:nvSpPr>
        <p:spPr>
          <a:xfrm>
            <a:off x="768096" y="3108960"/>
            <a:ext cx="2651760" cy="411480"/>
          </a:xfrm>
          <a:prstGeom prst="rect">
            <a:avLst/>
          </a:prstGeom>
          <a:noFill/>
        </p:spPr>
        <p:txBody>
          <a:bodyPr wrap="square" lIns="0" rIns="0" tIns="0" bIns="0">
            <a:spAutoFit/>
          </a:bodyPr>
          <a:lstStyle/>
          <a:p>
            <a:pPr>
              <a:spcAft>
                <a:spcPts val="500"/>
              </a:spcAft>
              <a:defRPr sz="2200" b="0">
                <a:solidFill>
                  <a:srgbClr val="F4F7FA"/>
                </a:solidFill>
                <a:latin typeface="Aptos"/>
              </a:defRPr>
            </a:pPr>
            <a:r>
              <a:t>250 študentov</a:t>
            </a:r>
          </a:p>
        </p:txBody>
      </p:sp>
      <p:sp>
        <p:nvSpPr>
          <p:cNvPr id="12" name="Rounded Rectangle 11"/>
          <p:cNvSpPr/>
          <p:nvPr/>
        </p:nvSpPr>
        <p:spPr>
          <a:xfrm>
            <a:off x="3383280" y="3191256"/>
            <a:ext cx="1421815" cy="256032"/>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969687" y="3086100"/>
            <a:ext cx="1508760" cy="457200"/>
          </a:xfrm>
          <a:prstGeom prst="rect">
            <a:avLst/>
          </a:prstGeom>
          <a:noFill/>
        </p:spPr>
        <p:txBody>
          <a:bodyPr wrap="square" lIns="0" rIns="0" tIns="0" bIns="0">
            <a:spAutoFit/>
          </a:bodyPr>
          <a:lstStyle/>
          <a:p>
            <a:pPr>
              <a:spcAft>
                <a:spcPts val="500"/>
              </a:spcAft>
              <a:defRPr sz="2200" b="1">
                <a:solidFill>
                  <a:srgbClr val="F4F7FA"/>
                </a:solidFill>
                <a:latin typeface="Aptos"/>
              </a:defRPr>
            </a:pPr>
            <a:r>
              <a:t>4,87 s</a:t>
            </a:r>
          </a:p>
        </p:txBody>
      </p:sp>
      <p:sp>
        <p:nvSpPr>
          <p:cNvPr id="14" name="TextBox 13"/>
          <p:cNvSpPr txBox="1"/>
          <p:nvPr/>
        </p:nvSpPr>
        <p:spPr>
          <a:xfrm>
            <a:off x="768096" y="3931920"/>
            <a:ext cx="2651760" cy="411480"/>
          </a:xfrm>
          <a:prstGeom prst="rect">
            <a:avLst/>
          </a:prstGeom>
          <a:noFill/>
        </p:spPr>
        <p:txBody>
          <a:bodyPr wrap="square" lIns="0" rIns="0" tIns="0" bIns="0">
            <a:spAutoFit/>
          </a:bodyPr>
          <a:lstStyle/>
          <a:p>
            <a:pPr>
              <a:spcAft>
                <a:spcPts val="500"/>
              </a:spcAft>
              <a:defRPr sz="2200" b="0">
                <a:solidFill>
                  <a:srgbClr val="F4F7FA"/>
                </a:solidFill>
                <a:latin typeface="Aptos"/>
              </a:defRPr>
            </a:pPr>
            <a:r>
              <a:t>1 000 študentov</a:t>
            </a:r>
          </a:p>
        </p:txBody>
      </p:sp>
      <p:sp>
        <p:nvSpPr>
          <p:cNvPr id="15" name="Rounded Rectangle 14"/>
          <p:cNvSpPr/>
          <p:nvPr/>
        </p:nvSpPr>
        <p:spPr>
          <a:xfrm>
            <a:off x="3383280" y="4014215"/>
            <a:ext cx="6008466" cy="256032"/>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556338" y="3909059"/>
            <a:ext cx="1508760" cy="457200"/>
          </a:xfrm>
          <a:prstGeom prst="rect">
            <a:avLst/>
          </a:prstGeom>
          <a:noFill/>
        </p:spPr>
        <p:txBody>
          <a:bodyPr wrap="square" lIns="0" rIns="0" tIns="0" bIns="0">
            <a:spAutoFit/>
          </a:bodyPr>
          <a:lstStyle/>
          <a:p>
            <a:pPr>
              <a:spcAft>
                <a:spcPts val="500"/>
              </a:spcAft>
              <a:defRPr sz="2200" b="1">
                <a:solidFill>
                  <a:srgbClr val="F4F7FA"/>
                </a:solidFill>
                <a:latin typeface="Aptos"/>
              </a:defRPr>
            </a:pPr>
            <a:r>
              <a:t>20,60 s</a:t>
            </a:r>
          </a:p>
        </p:txBody>
      </p:sp>
      <p:sp>
        <p:nvSpPr>
          <p:cNvPr id="17" name="TextBox 16"/>
          <p:cNvSpPr txBox="1"/>
          <p:nvPr/>
        </p:nvSpPr>
        <p:spPr>
          <a:xfrm>
            <a:off x="795528" y="4937760"/>
            <a:ext cx="10332720" cy="384048"/>
          </a:xfrm>
          <a:prstGeom prst="rect">
            <a:avLst/>
          </a:prstGeom>
          <a:noFill/>
        </p:spPr>
        <p:txBody>
          <a:bodyPr wrap="square" lIns="0" rIns="0" tIns="0" bIns="0">
            <a:spAutoFit/>
          </a:bodyPr>
          <a:lstStyle/>
          <a:p>
            <a:pPr>
              <a:spcAft>
                <a:spcPts val="500"/>
              </a:spcAft>
              <a:defRPr sz="1600" b="0">
                <a:solidFill>
                  <a:srgbClr val="AEBED0"/>
                </a:solidFill>
                <a:latin typeface="Aptos"/>
              </a:defRPr>
            </a:pPr>
            <a:r>
              <a:t>Hranica času pre 95 zo 100 dokončených odpovedí.</a:t>
            </a:r>
          </a:p>
        </p:txBody>
      </p:sp>
      <p:sp>
        <p:nvSpPr>
          <p:cNvPr id="18" name="Rounded Rectangle 17"/>
          <p:cNvSpPr/>
          <p:nvPr/>
        </p:nvSpPr>
        <p:spPr>
          <a:xfrm>
            <a:off x="740664" y="5568696"/>
            <a:ext cx="10826496" cy="566928"/>
          </a:xfrm>
          <a:prstGeom prst="roundRect">
            <a:avLst>
              <a:gd name="adj" fmla="val 12000"/>
            </a:avLst>
          </a:prstGeom>
          <a:solidFill>
            <a:srgbClr val="1B2B4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41832" y="5687568"/>
            <a:ext cx="10332720" cy="320040"/>
          </a:xfrm>
          <a:prstGeom prst="rect">
            <a:avLst/>
          </a:prstGeom>
          <a:noFill/>
        </p:spPr>
        <p:txBody>
          <a:bodyPr wrap="square" lIns="0" rIns="0" tIns="0" bIns="0">
            <a:spAutoFit/>
          </a:bodyPr>
          <a:lstStyle/>
          <a:p>
            <a:pPr>
              <a:spcAft>
                <a:spcPts val="500"/>
              </a:spcAft>
              <a:defRPr sz="1800" b="0">
                <a:solidFill>
                  <a:srgbClr val="EB9960"/>
                </a:solidFill>
                <a:latin typeface="Aptos"/>
              </a:defRPr>
            </a:pPr>
            <a:r>
              <a:t>Pri najväčšom kurze sa 11 rozbehnutých opakovaní testu nedokončilo.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08 / ČO SME ZMENILI?</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Rovnaké údaje sme spracúvali zbytočne opakovane.</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09 / 12</a:t>
            </a:r>
          </a:p>
        </p:txBody>
      </p:sp>
      <p:sp>
        <p:nvSpPr>
          <p:cNvPr id="8" name="Rounded Rectangle 7"/>
          <p:cNvSpPr/>
          <p:nvPr/>
        </p:nvSpPr>
        <p:spPr>
          <a:xfrm>
            <a:off x="731520" y="2011680"/>
            <a:ext cx="5047488" cy="3319272"/>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276856"/>
            <a:ext cx="4553712" cy="438912"/>
          </a:xfrm>
          <a:prstGeom prst="rect">
            <a:avLst/>
          </a:prstGeom>
          <a:noFill/>
        </p:spPr>
        <p:txBody>
          <a:bodyPr wrap="square" lIns="0" rIns="0" tIns="0" bIns="0">
            <a:spAutoFit/>
          </a:bodyPr>
          <a:lstStyle/>
          <a:p>
            <a:pPr>
              <a:spcAft>
                <a:spcPts val="500"/>
              </a:spcAft>
              <a:defRPr sz="2400" b="1">
                <a:solidFill>
                  <a:srgbClr val="172B42"/>
                </a:solidFill>
                <a:latin typeface="Aptos"/>
              </a:defRPr>
            </a:pPr>
            <a:r>
              <a:t>Pred úpravou</a:t>
            </a:r>
          </a:p>
        </p:txBody>
      </p:sp>
      <p:sp>
        <p:nvSpPr>
          <p:cNvPr id="10" name="Rounded Rectangle 9"/>
          <p:cNvSpPr/>
          <p:nvPr/>
        </p:nvSpPr>
        <p:spPr>
          <a:xfrm>
            <a:off x="1033272" y="3136392"/>
            <a:ext cx="1298448" cy="56692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161288" y="3255264"/>
            <a:ext cx="1088136" cy="274320"/>
          </a:xfrm>
          <a:prstGeom prst="rect">
            <a:avLst/>
          </a:prstGeom>
          <a:noFill/>
        </p:spPr>
        <p:txBody>
          <a:bodyPr wrap="square" lIns="0" rIns="0" tIns="0" bIns="0">
            <a:spAutoFit/>
          </a:bodyPr>
          <a:lstStyle/>
          <a:p>
            <a:pPr>
              <a:spcAft>
                <a:spcPts val="500"/>
              </a:spcAft>
              <a:defRPr sz="1400" b="1">
                <a:solidFill>
                  <a:srgbClr val="172B42"/>
                </a:solidFill>
                <a:latin typeface="Aptos"/>
              </a:defRPr>
            </a:pPr>
            <a:r>
              <a:t>výpočet</a:t>
            </a:r>
          </a:p>
        </p:txBody>
      </p:sp>
      <p:sp>
        <p:nvSpPr>
          <p:cNvPr id="12" name="Rounded Rectangle 11"/>
          <p:cNvSpPr/>
          <p:nvPr/>
        </p:nvSpPr>
        <p:spPr>
          <a:xfrm>
            <a:off x="2542032" y="3136392"/>
            <a:ext cx="1298448" cy="56692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670048" y="3255264"/>
            <a:ext cx="1088136" cy="274320"/>
          </a:xfrm>
          <a:prstGeom prst="rect">
            <a:avLst/>
          </a:prstGeom>
          <a:noFill/>
        </p:spPr>
        <p:txBody>
          <a:bodyPr wrap="square" lIns="0" rIns="0" tIns="0" bIns="0">
            <a:spAutoFit/>
          </a:bodyPr>
          <a:lstStyle/>
          <a:p>
            <a:pPr>
              <a:spcAft>
                <a:spcPts val="500"/>
              </a:spcAft>
              <a:defRPr sz="1400" b="1">
                <a:solidFill>
                  <a:srgbClr val="172B42"/>
                </a:solidFill>
                <a:latin typeface="Aptos"/>
              </a:defRPr>
            </a:pPr>
            <a:r>
              <a:t>výpočet</a:t>
            </a:r>
          </a:p>
        </p:txBody>
      </p:sp>
      <p:sp>
        <p:nvSpPr>
          <p:cNvPr id="14" name="Rounded Rectangle 13"/>
          <p:cNvSpPr/>
          <p:nvPr/>
        </p:nvSpPr>
        <p:spPr>
          <a:xfrm>
            <a:off x="4050791" y="3136392"/>
            <a:ext cx="1298448" cy="566928"/>
          </a:xfrm>
          <a:prstGeom prst="roundRect">
            <a:avLst>
              <a:gd name="adj" fmla="val 12000"/>
            </a:avLst>
          </a:prstGeom>
          <a:solidFill>
            <a:srgbClr val="EB996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178808" y="3255264"/>
            <a:ext cx="1088136" cy="274320"/>
          </a:xfrm>
          <a:prstGeom prst="rect">
            <a:avLst/>
          </a:prstGeom>
          <a:noFill/>
        </p:spPr>
        <p:txBody>
          <a:bodyPr wrap="square" lIns="0" rIns="0" tIns="0" bIns="0">
            <a:spAutoFit/>
          </a:bodyPr>
          <a:lstStyle/>
          <a:p>
            <a:pPr>
              <a:spcAft>
                <a:spcPts val="500"/>
              </a:spcAft>
              <a:defRPr sz="1400" b="1">
                <a:solidFill>
                  <a:srgbClr val="172B42"/>
                </a:solidFill>
                <a:latin typeface="Aptos"/>
              </a:defRPr>
            </a:pPr>
            <a:r>
              <a:t>výpočet</a:t>
            </a:r>
          </a:p>
        </p:txBody>
      </p:sp>
      <p:sp>
        <p:nvSpPr>
          <p:cNvPr id="16" name="TextBox 15"/>
          <p:cNvSpPr txBox="1"/>
          <p:nvPr/>
        </p:nvSpPr>
        <p:spPr>
          <a:xfrm>
            <a:off x="996696" y="4187952"/>
            <a:ext cx="4489704" cy="841248"/>
          </a:xfrm>
          <a:prstGeom prst="rect">
            <a:avLst/>
          </a:prstGeom>
          <a:noFill/>
        </p:spPr>
        <p:txBody>
          <a:bodyPr wrap="square" lIns="0" rIns="0" tIns="0" bIns="0">
            <a:spAutoFit/>
          </a:bodyPr>
          <a:lstStyle/>
          <a:p>
            <a:pPr>
              <a:spcAft>
                <a:spcPts val="500"/>
              </a:spcAft>
              <a:defRPr sz="2300" b="0">
                <a:solidFill>
                  <a:srgbClr val="172B42"/>
                </a:solidFill>
                <a:latin typeface="Aptos"/>
              </a:defRPr>
            </a:pPr>
            <a:r>
              <a:t>Tie isté odpovede</a:t>
            </a:r>
          </a:p>
          <a:p>
            <a:pPr>
              <a:spcAft>
                <a:spcPts val="500"/>
              </a:spcAft>
              <a:defRPr sz="2300" b="0">
                <a:solidFill>
                  <a:srgbClr val="172B42"/>
                </a:solidFill>
                <a:latin typeface="Aptos"/>
              </a:defRPr>
            </a:pPr>
            <a:r>
              <a:t>spracované opakovane.</a:t>
            </a:r>
          </a:p>
        </p:txBody>
      </p:sp>
      <p:sp>
        <p:nvSpPr>
          <p:cNvPr id="17" name="Rounded Rectangle 16"/>
          <p:cNvSpPr/>
          <p:nvPr/>
        </p:nvSpPr>
        <p:spPr>
          <a:xfrm>
            <a:off x="6400800" y="2011680"/>
            <a:ext cx="5047488" cy="3319272"/>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656832" y="2276856"/>
            <a:ext cx="4553712" cy="438912"/>
          </a:xfrm>
          <a:prstGeom prst="rect">
            <a:avLst/>
          </a:prstGeom>
          <a:noFill/>
        </p:spPr>
        <p:txBody>
          <a:bodyPr wrap="square" lIns="0" rIns="0" tIns="0" bIns="0">
            <a:spAutoFit/>
          </a:bodyPr>
          <a:lstStyle/>
          <a:p>
            <a:pPr>
              <a:spcAft>
                <a:spcPts val="500"/>
              </a:spcAft>
              <a:defRPr sz="2400" b="1">
                <a:solidFill>
                  <a:srgbClr val="172B42"/>
                </a:solidFill>
                <a:latin typeface="Aptos"/>
              </a:defRPr>
            </a:pPr>
            <a:r>
              <a:t>Po úprave</a:t>
            </a:r>
          </a:p>
        </p:txBody>
      </p:sp>
      <p:sp>
        <p:nvSpPr>
          <p:cNvPr id="19" name="Rounded Rectangle 18"/>
          <p:cNvSpPr/>
          <p:nvPr/>
        </p:nvSpPr>
        <p:spPr>
          <a:xfrm>
            <a:off x="6702552" y="3136392"/>
            <a:ext cx="1298448" cy="566928"/>
          </a:xfrm>
          <a:prstGeom prst="roundRect">
            <a:avLst>
              <a:gd name="adj" fmla="val 12000"/>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30568" y="3255264"/>
            <a:ext cx="1088136" cy="274320"/>
          </a:xfrm>
          <a:prstGeom prst="rect">
            <a:avLst/>
          </a:prstGeom>
          <a:noFill/>
        </p:spPr>
        <p:txBody>
          <a:bodyPr wrap="square" lIns="0" rIns="0" tIns="0" bIns="0">
            <a:spAutoFit/>
          </a:bodyPr>
          <a:lstStyle/>
          <a:p>
            <a:pPr>
              <a:spcAft>
                <a:spcPts val="500"/>
              </a:spcAft>
              <a:defRPr sz="1400" b="1">
                <a:solidFill>
                  <a:srgbClr val="172B42"/>
                </a:solidFill>
                <a:latin typeface="Aptos"/>
              </a:defRPr>
            </a:pPr>
            <a:r>
              <a:t>príprava</a:t>
            </a:r>
          </a:p>
        </p:txBody>
      </p:sp>
      <p:sp>
        <p:nvSpPr>
          <p:cNvPr id="21" name="Rounded Rectangle 20"/>
          <p:cNvSpPr/>
          <p:nvPr/>
        </p:nvSpPr>
        <p:spPr>
          <a:xfrm>
            <a:off x="8211312" y="3136392"/>
            <a:ext cx="1298448" cy="566928"/>
          </a:xfrm>
          <a:prstGeom prst="roundRect">
            <a:avLst>
              <a:gd name="adj" fmla="val 12000"/>
            </a:avLst>
          </a:prstGeom>
          <a:solidFill>
            <a:srgbClr val="E8F5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7" y="3255264"/>
            <a:ext cx="1088136" cy="274320"/>
          </a:xfrm>
          <a:prstGeom prst="rect">
            <a:avLst/>
          </a:prstGeom>
          <a:noFill/>
        </p:spPr>
        <p:txBody>
          <a:bodyPr wrap="square" lIns="0" rIns="0" tIns="0" bIns="0">
            <a:spAutoFit/>
          </a:bodyPr>
          <a:lstStyle/>
          <a:p>
            <a:pPr>
              <a:spcAft>
                <a:spcPts val="500"/>
              </a:spcAft>
              <a:defRPr sz="1400" b="1">
                <a:solidFill>
                  <a:srgbClr val="172B42"/>
                </a:solidFill>
                <a:latin typeface="Aptos"/>
              </a:defRPr>
            </a:pPr>
            <a:r>
              <a:t>použitie</a:t>
            </a:r>
          </a:p>
        </p:txBody>
      </p:sp>
      <p:sp>
        <p:nvSpPr>
          <p:cNvPr id="23" name="Rounded Rectangle 22"/>
          <p:cNvSpPr/>
          <p:nvPr/>
        </p:nvSpPr>
        <p:spPr>
          <a:xfrm>
            <a:off x="9720072" y="3136392"/>
            <a:ext cx="1298448" cy="566928"/>
          </a:xfrm>
          <a:prstGeom prst="roundRect">
            <a:avLst>
              <a:gd name="adj" fmla="val 12000"/>
            </a:avLst>
          </a:prstGeom>
          <a:solidFill>
            <a:srgbClr val="E8F5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848088" y="3255264"/>
            <a:ext cx="1088136" cy="274320"/>
          </a:xfrm>
          <a:prstGeom prst="rect">
            <a:avLst/>
          </a:prstGeom>
          <a:noFill/>
        </p:spPr>
        <p:txBody>
          <a:bodyPr wrap="square" lIns="0" rIns="0" tIns="0" bIns="0">
            <a:spAutoFit/>
          </a:bodyPr>
          <a:lstStyle/>
          <a:p>
            <a:pPr>
              <a:spcAft>
                <a:spcPts val="500"/>
              </a:spcAft>
              <a:defRPr sz="1400" b="1">
                <a:solidFill>
                  <a:srgbClr val="172B42"/>
                </a:solidFill>
                <a:latin typeface="Aptos"/>
              </a:defRPr>
            </a:pPr>
            <a:r>
              <a:t>použitie</a:t>
            </a:r>
          </a:p>
        </p:txBody>
      </p:sp>
      <p:sp>
        <p:nvSpPr>
          <p:cNvPr id="25" name="TextBox 24"/>
          <p:cNvSpPr txBox="1"/>
          <p:nvPr/>
        </p:nvSpPr>
        <p:spPr>
          <a:xfrm>
            <a:off x="6665976" y="4187952"/>
            <a:ext cx="4489704" cy="841248"/>
          </a:xfrm>
          <a:prstGeom prst="rect">
            <a:avLst/>
          </a:prstGeom>
          <a:noFill/>
        </p:spPr>
        <p:txBody>
          <a:bodyPr wrap="square" lIns="0" rIns="0" tIns="0" bIns="0">
            <a:spAutoFit/>
          </a:bodyPr>
          <a:lstStyle/>
          <a:p>
            <a:pPr>
              <a:spcAft>
                <a:spcPts val="500"/>
              </a:spcAft>
              <a:defRPr sz="2300" b="0">
                <a:solidFill>
                  <a:srgbClr val="172B42"/>
                </a:solidFill>
                <a:latin typeface="Aptos"/>
              </a:defRPr>
            </a:pPr>
            <a:r>
              <a:t>Odpovede pripravené raz</a:t>
            </a:r>
          </a:p>
          <a:p>
            <a:pPr>
              <a:spcAft>
                <a:spcPts val="500"/>
              </a:spcAft>
              <a:defRPr sz="2300" b="0">
                <a:solidFill>
                  <a:srgbClr val="172B42"/>
                </a:solidFill>
                <a:latin typeface="Aptos"/>
              </a:defRPr>
            </a:pPr>
            <a:r>
              <a:t>a znovu použité.</a:t>
            </a:r>
          </a:p>
        </p:txBody>
      </p:sp>
      <p:sp>
        <p:nvSpPr>
          <p:cNvPr id="26" name="TextBox 25"/>
          <p:cNvSpPr txBox="1"/>
          <p:nvPr/>
        </p:nvSpPr>
        <p:spPr>
          <a:xfrm>
            <a:off x="786384" y="5715000"/>
            <a:ext cx="10607040" cy="429768"/>
          </a:xfrm>
          <a:prstGeom prst="rect">
            <a:avLst/>
          </a:prstGeom>
          <a:noFill/>
        </p:spPr>
        <p:txBody>
          <a:bodyPr wrap="square" lIns="0" rIns="0" tIns="0" bIns="0">
            <a:spAutoFit/>
          </a:bodyPr>
          <a:lstStyle/>
          <a:p>
            <a:pPr>
              <a:spcAft>
                <a:spcPts val="500"/>
              </a:spcAft>
              <a:defRPr sz="2200" b="1">
                <a:solidFill>
                  <a:srgbClr val="078476"/>
                </a:solidFill>
                <a:latin typeface="Aptos"/>
              </a:defRPr>
            </a:pPr>
            <a:r>
              <a:t>Výsledky prehľadu zostali zhodné vo všetkých troch kurzoch.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19B7A4"/>
                </a:solidFill>
                <a:latin typeface="Aptos"/>
              </a:defRPr>
            </a:pPr>
            <a:r>
              <a:t>09 / VÝSLEDOK</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F4F7FA"/>
                </a:solidFill>
                <a:latin typeface="Aptos"/>
              </a:defRPr>
            </a:pPr>
            <a:r>
              <a:t>Čakanie sa výrazne skrátilo.</a:t>
            </a:r>
          </a:p>
        </p:txBody>
      </p:sp>
      <p:cxnSp>
        <p:nvCxnSpPr>
          <p:cNvPr id="5" name="Connector 4"/>
          <p:cNvCxnSpPr/>
          <p:nvPr/>
        </p:nvCxnSpPr>
        <p:spPr>
          <a:xfrm>
            <a:off x="594360" y="6437376"/>
            <a:ext cx="10991088" cy="0"/>
          </a:xfrm>
          <a:prstGeom prst="line">
            <a:avLst/>
          </a:prstGeom>
          <a:ln w="12700">
            <a:solidFill>
              <a:srgbClr val="1B2B41"/>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91A4B9"/>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19B7A4"/>
                </a:solidFill>
                <a:latin typeface="Aptos"/>
              </a:defRPr>
            </a:pPr>
            <a:r>
              <a:t>10 / 12</a:t>
            </a:r>
          </a:p>
        </p:txBody>
      </p:sp>
      <p:sp>
        <p:nvSpPr>
          <p:cNvPr id="8" name="TextBox 7"/>
          <p:cNvSpPr txBox="1"/>
          <p:nvPr/>
        </p:nvSpPr>
        <p:spPr>
          <a:xfrm>
            <a:off x="786384" y="2423160"/>
            <a:ext cx="3749039" cy="411480"/>
          </a:xfrm>
          <a:prstGeom prst="rect">
            <a:avLst/>
          </a:prstGeom>
          <a:noFill/>
        </p:spPr>
        <p:txBody>
          <a:bodyPr wrap="square" lIns="0" rIns="0" tIns="0" bIns="0">
            <a:spAutoFit/>
          </a:bodyPr>
          <a:lstStyle/>
          <a:p>
            <a:pPr>
              <a:spcAft>
                <a:spcPts val="500"/>
              </a:spcAft>
              <a:defRPr sz="2300" b="0">
                <a:solidFill>
                  <a:srgbClr val="AEBED0"/>
                </a:solidFill>
                <a:latin typeface="Aptos"/>
              </a:defRPr>
            </a:pPr>
            <a:r>
              <a:t>Pred úpravou</a:t>
            </a:r>
          </a:p>
        </p:txBody>
      </p:sp>
      <p:sp>
        <p:nvSpPr>
          <p:cNvPr id="9" name="TextBox 8"/>
          <p:cNvSpPr txBox="1"/>
          <p:nvPr/>
        </p:nvSpPr>
        <p:spPr>
          <a:xfrm>
            <a:off x="749808" y="3026664"/>
            <a:ext cx="3794760" cy="1005840"/>
          </a:xfrm>
          <a:prstGeom prst="rect">
            <a:avLst/>
          </a:prstGeom>
          <a:noFill/>
        </p:spPr>
        <p:txBody>
          <a:bodyPr wrap="square" lIns="0" rIns="0" tIns="0" bIns="0">
            <a:spAutoFit/>
          </a:bodyPr>
          <a:lstStyle/>
          <a:p>
            <a:pPr>
              <a:spcAft>
                <a:spcPts val="500"/>
              </a:spcAft>
              <a:defRPr sz="6500" b="1">
                <a:solidFill>
                  <a:srgbClr val="EB9960"/>
                </a:solidFill>
                <a:latin typeface="Aptos"/>
              </a:defRPr>
            </a:pPr>
            <a:r>
              <a:t>20,6 s</a:t>
            </a:r>
          </a:p>
        </p:txBody>
      </p:sp>
      <p:sp>
        <p:nvSpPr>
          <p:cNvPr id="10" name="TextBox 9"/>
          <p:cNvSpPr txBox="1"/>
          <p:nvPr/>
        </p:nvSpPr>
        <p:spPr>
          <a:xfrm>
            <a:off x="4718304" y="3099816"/>
            <a:ext cx="960120" cy="822960"/>
          </a:xfrm>
          <a:prstGeom prst="rect">
            <a:avLst/>
          </a:prstGeom>
          <a:noFill/>
        </p:spPr>
        <p:txBody>
          <a:bodyPr wrap="square" lIns="0" rIns="0" tIns="0" bIns="0">
            <a:spAutoFit/>
          </a:bodyPr>
          <a:lstStyle/>
          <a:p>
            <a:pPr>
              <a:spcAft>
                <a:spcPts val="500"/>
              </a:spcAft>
              <a:defRPr sz="5100" b="0">
                <a:solidFill>
                  <a:srgbClr val="F4F7FA"/>
                </a:solidFill>
                <a:latin typeface="Aptos"/>
              </a:defRPr>
            </a:pPr>
            <a:r>
              <a:t>→</a:t>
            </a:r>
          </a:p>
        </p:txBody>
      </p:sp>
      <p:sp>
        <p:nvSpPr>
          <p:cNvPr id="11" name="TextBox 10"/>
          <p:cNvSpPr txBox="1"/>
          <p:nvPr/>
        </p:nvSpPr>
        <p:spPr>
          <a:xfrm>
            <a:off x="6400800" y="2423160"/>
            <a:ext cx="4480560" cy="411480"/>
          </a:xfrm>
          <a:prstGeom prst="rect">
            <a:avLst/>
          </a:prstGeom>
          <a:noFill/>
        </p:spPr>
        <p:txBody>
          <a:bodyPr wrap="square" lIns="0" rIns="0" tIns="0" bIns="0">
            <a:spAutoFit/>
          </a:bodyPr>
          <a:lstStyle/>
          <a:p>
            <a:pPr>
              <a:spcAft>
                <a:spcPts val="500"/>
              </a:spcAft>
              <a:defRPr sz="2300" b="0">
                <a:solidFill>
                  <a:srgbClr val="AEBED0"/>
                </a:solidFill>
                <a:latin typeface="Aptos"/>
              </a:defRPr>
            </a:pPr>
            <a:r>
              <a:t>Po úprave</a:t>
            </a:r>
          </a:p>
        </p:txBody>
      </p:sp>
      <p:sp>
        <p:nvSpPr>
          <p:cNvPr id="12" name="TextBox 11"/>
          <p:cNvSpPr txBox="1"/>
          <p:nvPr/>
        </p:nvSpPr>
        <p:spPr>
          <a:xfrm>
            <a:off x="6336792" y="3026664"/>
            <a:ext cx="4206240" cy="1005840"/>
          </a:xfrm>
          <a:prstGeom prst="rect">
            <a:avLst/>
          </a:prstGeom>
          <a:noFill/>
        </p:spPr>
        <p:txBody>
          <a:bodyPr wrap="square" lIns="0" rIns="0" tIns="0" bIns="0">
            <a:spAutoFit/>
          </a:bodyPr>
          <a:lstStyle/>
          <a:p>
            <a:pPr>
              <a:spcAft>
                <a:spcPts val="500"/>
              </a:spcAft>
              <a:defRPr sz="6500" b="1">
                <a:solidFill>
                  <a:srgbClr val="19B7A4"/>
                </a:solidFill>
                <a:latin typeface="Aptos"/>
              </a:defRPr>
            </a:pPr>
            <a:r>
              <a:t>9,1 s</a:t>
            </a:r>
          </a:p>
        </p:txBody>
      </p:sp>
      <p:sp>
        <p:nvSpPr>
          <p:cNvPr id="13" name="Rounded Rectangle 12"/>
          <p:cNvSpPr/>
          <p:nvPr/>
        </p:nvSpPr>
        <p:spPr>
          <a:xfrm>
            <a:off x="6409944" y="4279392"/>
            <a:ext cx="3383280" cy="310896"/>
          </a:xfrm>
          <a:prstGeom prst="roundRect">
            <a:avLst>
              <a:gd name="adj" fmla="val 12000"/>
            </a:avLst>
          </a:prstGeom>
          <a:solidFill>
            <a:srgbClr val="1B2B4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519672" y="4329683"/>
            <a:ext cx="3163824" cy="219456"/>
          </a:xfrm>
          <a:prstGeom prst="rect">
            <a:avLst/>
          </a:prstGeom>
          <a:noFill/>
        </p:spPr>
        <p:txBody>
          <a:bodyPr wrap="square" lIns="0" rIns="0" tIns="0" bIns="0">
            <a:spAutoFit/>
          </a:bodyPr>
          <a:lstStyle/>
          <a:p>
            <a:pPr>
              <a:spcAft>
                <a:spcPts val="500"/>
              </a:spcAft>
              <a:defRPr sz="1100" b="1">
                <a:solidFill>
                  <a:srgbClr val="19B7A4"/>
                </a:solidFill>
                <a:latin typeface="Aptos"/>
              </a:defRPr>
            </a:pPr>
            <a:r>
              <a:t>O 56 % KRATŠÍ ČAS</a:t>
            </a:r>
          </a:p>
        </p:txBody>
      </p:sp>
      <p:sp>
        <p:nvSpPr>
          <p:cNvPr id="15" name="TextBox 14"/>
          <p:cNvSpPr txBox="1"/>
          <p:nvPr/>
        </p:nvSpPr>
        <p:spPr>
          <a:xfrm>
            <a:off x="795528" y="5239512"/>
            <a:ext cx="10515600" cy="685800"/>
          </a:xfrm>
          <a:prstGeom prst="rect">
            <a:avLst/>
          </a:prstGeom>
          <a:noFill/>
        </p:spPr>
        <p:txBody>
          <a:bodyPr wrap="square" lIns="0" rIns="0" tIns="0" bIns="0">
            <a:spAutoFit/>
          </a:bodyPr>
          <a:lstStyle/>
          <a:p>
            <a:pPr>
              <a:spcAft>
                <a:spcPts val="500"/>
              </a:spcAft>
              <a:defRPr sz="1800" b="0">
                <a:solidFill>
                  <a:srgbClr val="AEBED0"/>
                </a:solidFill>
                <a:latin typeface="Aptos"/>
              </a:defRPr>
            </a:pPr>
            <a:r>
              <a:t>Kurz s 1 000 študentmi · 20 súčasných používateľov</a:t>
            </a:r>
          </a:p>
          <a:p>
            <a:pPr>
              <a:spcAft>
                <a:spcPts val="500"/>
              </a:spcAft>
              <a:defRPr sz="1800" b="0">
                <a:solidFill>
                  <a:srgbClr val="AEBED0"/>
                </a:solidFill>
                <a:latin typeface="Aptos"/>
              </a:defRPr>
            </a:pPr>
            <a:r>
              <a:t>Hranica času pre 95 zo 100 dokončených odpovedí.</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078476"/>
                </a:solidFill>
                <a:latin typeface="Aptos"/>
              </a:defRPr>
            </a:pPr>
            <a:r>
              <a:t>10 / DOSIAHNUTÉ VÝSLEDKY</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172B42"/>
                </a:solidFill>
                <a:latin typeface="Aptos"/>
              </a:defRPr>
            </a:pPr>
            <a:r>
              <a:t>Rýchlejšie spracovanie. Zachovaná správnosť.</a:t>
            </a:r>
          </a:p>
        </p:txBody>
      </p:sp>
      <p:cxnSp>
        <p:nvCxnSpPr>
          <p:cNvPr id="5" name="Connector 4"/>
          <p:cNvCxnSpPr/>
          <p:nvPr/>
        </p:nvCxnSpPr>
        <p:spPr>
          <a:xfrm>
            <a:off x="594360" y="6437376"/>
            <a:ext cx="10991088" cy="0"/>
          </a:xfrm>
          <a:prstGeom prst="line">
            <a:avLst/>
          </a:prstGeom>
          <a:ln w="12700">
            <a:solidFill>
              <a:srgbClr val="DBE3EB"/>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627387"/>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078476"/>
                </a:solidFill>
                <a:latin typeface="Aptos"/>
              </a:defRPr>
            </a:pPr>
            <a:r>
              <a:t>11 / 12</a:t>
            </a:r>
          </a:p>
        </p:txBody>
      </p:sp>
      <p:sp>
        <p:nvSpPr>
          <p:cNvPr id="8" name="Rounded Rectangle 7"/>
          <p:cNvSpPr/>
          <p:nvPr/>
        </p:nvSpPr>
        <p:spPr>
          <a:xfrm>
            <a:off x="731520" y="2075688"/>
            <a:ext cx="10853928" cy="59436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950976" y="2295144"/>
            <a:ext cx="155448" cy="155448"/>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98448" y="2185416"/>
            <a:ext cx="4892040" cy="374904"/>
          </a:xfrm>
          <a:prstGeom prst="rect">
            <a:avLst/>
          </a:prstGeom>
          <a:noFill/>
        </p:spPr>
        <p:txBody>
          <a:bodyPr wrap="square" lIns="0" rIns="0" tIns="0" bIns="0">
            <a:spAutoFit/>
          </a:bodyPr>
          <a:lstStyle/>
          <a:p>
            <a:pPr>
              <a:spcAft>
                <a:spcPts val="500"/>
              </a:spcAft>
              <a:defRPr sz="2200" b="1">
                <a:solidFill>
                  <a:srgbClr val="172B42"/>
                </a:solidFill>
                <a:latin typeface="Aptos"/>
              </a:defRPr>
            </a:pPr>
            <a:r>
              <a:t>Sledovaný čas odozvy</a:t>
            </a:r>
          </a:p>
        </p:txBody>
      </p:sp>
      <p:sp>
        <p:nvSpPr>
          <p:cNvPr id="11" name="TextBox 10"/>
          <p:cNvSpPr txBox="1"/>
          <p:nvPr/>
        </p:nvSpPr>
        <p:spPr>
          <a:xfrm>
            <a:off x="6473952" y="2212848"/>
            <a:ext cx="4718304" cy="347472"/>
          </a:xfrm>
          <a:prstGeom prst="rect">
            <a:avLst/>
          </a:prstGeom>
          <a:noFill/>
        </p:spPr>
        <p:txBody>
          <a:bodyPr wrap="square" lIns="0" rIns="0" tIns="0" bIns="0">
            <a:spAutoFit/>
          </a:bodyPr>
          <a:lstStyle/>
          <a:p>
            <a:pPr>
              <a:spcAft>
                <a:spcPts val="500"/>
              </a:spcAft>
              <a:defRPr sz="2000" b="1">
                <a:solidFill>
                  <a:srgbClr val="078476"/>
                </a:solidFill>
                <a:latin typeface="Aptos"/>
              </a:defRPr>
            </a:pPr>
            <a:r>
              <a:t>Skrátený o 56 %</a:t>
            </a:r>
          </a:p>
        </p:txBody>
      </p:sp>
      <p:sp>
        <p:nvSpPr>
          <p:cNvPr id="12" name="Rounded Rectangle 11"/>
          <p:cNvSpPr/>
          <p:nvPr/>
        </p:nvSpPr>
        <p:spPr>
          <a:xfrm>
            <a:off x="731520" y="2843784"/>
            <a:ext cx="10853928" cy="59436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950976" y="3063239"/>
            <a:ext cx="155448" cy="155448"/>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298448" y="2953512"/>
            <a:ext cx="4892040" cy="374904"/>
          </a:xfrm>
          <a:prstGeom prst="rect">
            <a:avLst/>
          </a:prstGeom>
          <a:noFill/>
        </p:spPr>
        <p:txBody>
          <a:bodyPr wrap="square" lIns="0" rIns="0" tIns="0" bIns="0">
            <a:spAutoFit/>
          </a:bodyPr>
          <a:lstStyle/>
          <a:p>
            <a:pPr>
              <a:spcAft>
                <a:spcPts val="500"/>
              </a:spcAft>
              <a:defRPr sz="2200" b="1">
                <a:solidFill>
                  <a:srgbClr val="172B42"/>
                </a:solidFill>
                <a:latin typeface="Aptos"/>
              </a:defRPr>
            </a:pPr>
            <a:r>
              <a:t>Výsledky prehľadu</a:t>
            </a:r>
          </a:p>
        </p:txBody>
      </p:sp>
      <p:sp>
        <p:nvSpPr>
          <p:cNvPr id="15" name="TextBox 14"/>
          <p:cNvSpPr txBox="1"/>
          <p:nvPr/>
        </p:nvSpPr>
        <p:spPr>
          <a:xfrm>
            <a:off x="6473952" y="2980944"/>
            <a:ext cx="4718304" cy="347472"/>
          </a:xfrm>
          <a:prstGeom prst="rect">
            <a:avLst/>
          </a:prstGeom>
          <a:noFill/>
        </p:spPr>
        <p:txBody>
          <a:bodyPr wrap="square" lIns="0" rIns="0" tIns="0" bIns="0">
            <a:spAutoFit/>
          </a:bodyPr>
          <a:lstStyle/>
          <a:p>
            <a:pPr>
              <a:spcAft>
                <a:spcPts val="500"/>
              </a:spcAft>
              <a:defRPr sz="2000" b="1">
                <a:solidFill>
                  <a:srgbClr val="078476"/>
                </a:solidFill>
                <a:latin typeface="Aptos"/>
              </a:defRPr>
            </a:pPr>
            <a:r>
              <a:t>Zhodné vo všetkých 3 kurzoch</a:t>
            </a:r>
          </a:p>
        </p:txBody>
      </p:sp>
      <p:sp>
        <p:nvSpPr>
          <p:cNvPr id="16" name="Rounded Rectangle 15"/>
          <p:cNvSpPr/>
          <p:nvPr/>
        </p:nvSpPr>
        <p:spPr>
          <a:xfrm>
            <a:off x="731520" y="3611880"/>
            <a:ext cx="10853928" cy="59436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950976" y="3831336"/>
            <a:ext cx="155448" cy="155448"/>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298448" y="3721608"/>
            <a:ext cx="4892040" cy="374904"/>
          </a:xfrm>
          <a:prstGeom prst="rect">
            <a:avLst/>
          </a:prstGeom>
          <a:noFill/>
        </p:spPr>
        <p:txBody>
          <a:bodyPr wrap="square" lIns="0" rIns="0" tIns="0" bIns="0">
            <a:spAutoFit/>
          </a:bodyPr>
          <a:lstStyle/>
          <a:p>
            <a:pPr>
              <a:spcAft>
                <a:spcPts val="500"/>
              </a:spcAft>
              <a:defRPr sz="2200" b="1">
                <a:solidFill>
                  <a:srgbClr val="172B42"/>
                </a:solidFill>
                <a:latin typeface="Aptos"/>
              </a:defRPr>
            </a:pPr>
            <a:r>
              <a:t>Automatizované testy</a:t>
            </a:r>
          </a:p>
        </p:txBody>
      </p:sp>
      <p:sp>
        <p:nvSpPr>
          <p:cNvPr id="19" name="TextBox 18"/>
          <p:cNvSpPr txBox="1"/>
          <p:nvPr/>
        </p:nvSpPr>
        <p:spPr>
          <a:xfrm>
            <a:off x="6473952" y="3749040"/>
            <a:ext cx="4718304" cy="347472"/>
          </a:xfrm>
          <a:prstGeom prst="rect">
            <a:avLst/>
          </a:prstGeom>
          <a:noFill/>
        </p:spPr>
        <p:txBody>
          <a:bodyPr wrap="square" lIns="0" rIns="0" tIns="0" bIns="0">
            <a:spAutoFit/>
          </a:bodyPr>
          <a:lstStyle/>
          <a:p>
            <a:pPr>
              <a:spcAft>
                <a:spcPts val="500"/>
              </a:spcAft>
              <a:defRPr sz="2000" b="1">
                <a:solidFill>
                  <a:srgbClr val="078476"/>
                </a:solidFill>
                <a:latin typeface="Aptos"/>
              </a:defRPr>
            </a:pPr>
            <a:r>
              <a:t>51 úspešných testov</a:t>
            </a:r>
          </a:p>
        </p:txBody>
      </p:sp>
      <p:sp>
        <p:nvSpPr>
          <p:cNvPr id="20" name="Rounded Rectangle 19"/>
          <p:cNvSpPr/>
          <p:nvPr/>
        </p:nvSpPr>
        <p:spPr>
          <a:xfrm>
            <a:off x="731520" y="4379976"/>
            <a:ext cx="10853928" cy="594360"/>
          </a:xfrm>
          <a:prstGeom prst="roundRect">
            <a:avLst>
              <a:gd name="adj" fmla="val 12000"/>
            </a:avLst>
          </a:prstGeom>
          <a:solidFill>
            <a:srgbClr val="FFFFFF"/>
          </a:solidFill>
          <a:ln>
            <a:solidFill>
              <a:srgbClr val="DBE3E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50976" y="4599432"/>
            <a:ext cx="155448" cy="155448"/>
          </a:xfrm>
          <a:prstGeom prst="ellipse">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298448" y="4489704"/>
            <a:ext cx="4892040" cy="374904"/>
          </a:xfrm>
          <a:prstGeom prst="rect">
            <a:avLst/>
          </a:prstGeom>
          <a:noFill/>
        </p:spPr>
        <p:txBody>
          <a:bodyPr wrap="square" lIns="0" rIns="0" tIns="0" bIns="0">
            <a:spAutoFit/>
          </a:bodyPr>
          <a:lstStyle/>
          <a:p>
            <a:pPr>
              <a:spcAft>
                <a:spcPts val="500"/>
              </a:spcAft>
              <a:defRPr sz="2200" b="1">
                <a:solidFill>
                  <a:srgbClr val="172B42"/>
                </a:solidFill>
                <a:latin typeface="Aptos"/>
              </a:defRPr>
            </a:pPr>
            <a:r>
              <a:t>Bežná záťaž po úprave</a:t>
            </a:r>
          </a:p>
        </p:txBody>
      </p:sp>
      <p:sp>
        <p:nvSpPr>
          <p:cNvPr id="23" name="TextBox 22"/>
          <p:cNvSpPr txBox="1"/>
          <p:nvPr/>
        </p:nvSpPr>
        <p:spPr>
          <a:xfrm>
            <a:off x="6473952" y="4517136"/>
            <a:ext cx="4718304" cy="347472"/>
          </a:xfrm>
          <a:prstGeom prst="rect">
            <a:avLst/>
          </a:prstGeom>
          <a:noFill/>
        </p:spPr>
        <p:txBody>
          <a:bodyPr wrap="square" lIns="0" rIns="0" tIns="0" bIns="0">
            <a:spAutoFit/>
          </a:bodyPr>
          <a:lstStyle/>
          <a:p>
            <a:pPr>
              <a:spcAft>
                <a:spcPts val="500"/>
              </a:spcAft>
              <a:defRPr sz="2000" b="1">
                <a:solidFill>
                  <a:srgbClr val="078476"/>
                </a:solidFill>
                <a:latin typeface="Aptos"/>
              </a:defRPr>
            </a:pPr>
            <a:r>
              <a:t>Bez chýb a prerušených behov</a:t>
            </a:r>
          </a:p>
        </p:txBody>
      </p:sp>
      <p:sp>
        <p:nvSpPr>
          <p:cNvPr id="24" name="TextBox 23"/>
          <p:cNvSpPr txBox="1"/>
          <p:nvPr/>
        </p:nvSpPr>
        <p:spPr>
          <a:xfrm>
            <a:off x="777240" y="5650992"/>
            <a:ext cx="10625328" cy="566928"/>
          </a:xfrm>
          <a:prstGeom prst="rect">
            <a:avLst/>
          </a:prstGeom>
          <a:noFill/>
        </p:spPr>
        <p:txBody>
          <a:bodyPr wrap="square" lIns="0" rIns="0" tIns="0" bIns="0">
            <a:spAutoFit/>
          </a:bodyPr>
          <a:lstStyle/>
          <a:p>
            <a:pPr>
              <a:spcAft>
                <a:spcPts val="500"/>
              </a:spcAft>
              <a:defRPr sz="2000" b="0">
                <a:solidFill>
                  <a:srgbClr val="627387"/>
                </a:solidFill>
                <a:latin typeface="Aptos"/>
              </a:defRPr>
            </a:pPr>
            <a:r>
              <a:t>Záťažové porovnanie: lokálny server · 20 súčasných používateľov.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502920" y="438912"/>
            <a:ext cx="109728" cy="310896"/>
          </a:xfrm>
          <a:prstGeom prst="rect">
            <a:avLst/>
          </a:prstGeom>
          <a:solidFill>
            <a:srgbClr val="19B7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49808" y="429768"/>
            <a:ext cx="10058400" cy="274320"/>
          </a:xfrm>
          <a:prstGeom prst="rect">
            <a:avLst/>
          </a:prstGeom>
          <a:noFill/>
        </p:spPr>
        <p:txBody>
          <a:bodyPr wrap="square" lIns="0" rIns="0" tIns="0" bIns="0">
            <a:spAutoFit/>
          </a:bodyPr>
          <a:lstStyle/>
          <a:p>
            <a:pPr>
              <a:spcAft>
                <a:spcPts val="500"/>
              </a:spcAft>
              <a:defRPr sz="1100" b="1">
                <a:solidFill>
                  <a:srgbClr val="19B7A4"/>
                </a:solidFill>
                <a:latin typeface="Aptos"/>
              </a:defRPr>
            </a:pPr>
            <a:r>
              <a:t>11 / ZÁVER</a:t>
            </a:r>
          </a:p>
        </p:txBody>
      </p:sp>
      <p:sp>
        <p:nvSpPr>
          <p:cNvPr id="4" name="TextBox 3"/>
          <p:cNvSpPr txBox="1"/>
          <p:nvPr/>
        </p:nvSpPr>
        <p:spPr>
          <a:xfrm>
            <a:off x="594360" y="877824"/>
            <a:ext cx="11018520" cy="667512"/>
          </a:xfrm>
          <a:prstGeom prst="rect">
            <a:avLst/>
          </a:prstGeom>
          <a:noFill/>
        </p:spPr>
        <p:txBody>
          <a:bodyPr wrap="square" lIns="0" rIns="0" tIns="0" bIns="0">
            <a:spAutoFit/>
          </a:bodyPr>
          <a:lstStyle/>
          <a:p>
            <a:pPr>
              <a:spcAft>
                <a:spcPts val="500"/>
              </a:spcAft>
              <a:defRPr sz="3300" b="1">
                <a:solidFill>
                  <a:srgbClr val="F4F7FA"/>
                </a:solidFill>
                <a:latin typeface="Aptos"/>
              </a:defRPr>
            </a:pPr>
            <a:r>
              <a:t>Od merania ku konkrétnemu zlepšeniu.</a:t>
            </a:r>
          </a:p>
        </p:txBody>
      </p:sp>
      <p:cxnSp>
        <p:nvCxnSpPr>
          <p:cNvPr id="5" name="Connector 4"/>
          <p:cNvCxnSpPr/>
          <p:nvPr/>
        </p:nvCxnSpPr>
        <p:spPr>
          <a:xfrm>
            <a:off x="594360" y="6437376"/>
            <a:ext cx="10991088" cy="0"/>
          </a:xfrm>
          <a:prstGeom prst="line">
            <a:avLst/>
          </a:prstGeom>
          <a:ln w="12700">
            <a:solidFill>
              <a:srgbClr val="1B2B41"/>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6528816"/>
            <a:ext cx="9144000" cy="182880"/>
          </a:xfrm>
          <a:prstGeom prst="rect">
            <a:avLst/>
          </a:prstGeom>
          <a:noFill/>
        </p:spPr>
        <p:txBody>
          <a:bodyPr wrap="square" lIns="0" rIns="0" tIns="0" bIns="0">
            <a:spAutoFit/>
          </a:bodyPr>
          <a:lstStyle/>
          <a:p>
            <a:pPr>
              <a:spcAft>
                <a:spcPts val="500"/>
              </a:spcAft>
              <a:defRPr sz="900" b="0">
                <a:solidFill>
                  <a:srgbClr val="91A4B9"/>
                </a:solidFill>
                <a:latin typeface="Aptos"/>
              </a:defRPr>
            </a:pPr>
            <a:r>
              <a:t>MYKHAILO ADAMENKO   /   FEI STU   /   KVALITA SOFTVÉROVÝCH SYSTÉMOV</a:t>
            </a:r>
          </a:p>
        </p:txBody>
      </p:sp>
      <p:sp>
        <p:nvSpPr>
          <p:cNvPr id="7" name="TextBox 6"/>
          <p:cNvSpPr txBox="1"/>
          <p:nvPr/>
        </p:nvSpPr>
        <p:spPr>
          <a:xfrm>
            <a:off x="11064240" y="6483096"/>
            <a:ext cx="502920" cy="274320"/>
          </a:xfrm>
          <a:prstGeom prst="rect">
            <a:avLst/>
          </a:prstGeom>
          <a:noFill/>
        </p:spPr>
        <p:txBody>
          <a:bodyPr wrap="square" lIns="0" rIns="0" tIns="0" bIns="0">
            <a:spAutoFit/>
          </a:bodyPr>
          <a:lstStyle/>
          <a:p>
            <a:pPr>
              <a:spcAft>
                <a:spcPts val="500"/>
              </a:spcAft>
              <a:defRPr sz="1000" b="1">
                <a:solidFill>
                  <a:srgbClr val="19B7A4"/>
                </a:solidFill>
                <a:latin typeface="Aptos"/>
              </a:defRPr>
            </a:pPr>
            <a:r>
              <a:t>12 / 12</a:t>
            </a:r>
          </a:p>
        </p:txBody>
      </p:sp>
      <p:sp>
        <p:nvSpPr>
          <p:cNvPr id="8" name="Rounded Rectangle 7"/>
          <p:cNvSpPr/>
          <p:nvPr/>
        </p:nvSpPr>
        <p:spPr>
          <a:xfrm>
            <a:off x="713232" y="2011680"/>
            <a:ext cx="3456432" cy="2386584"/>
          </a:xfrm>
          <a:prstGeom prst="roundRect">
            <a:avLst>
              <a:gd name="adj" fmla="val 12000"/>
            </a:avLst>
          </a:prstGeom>
          <a:solidFill>
            <a:srgbClr val="1B2B4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50976" y="2368296"/>
            <a:ext cx="2953512" cy="448056"/>
          </a:xfrm>
          <a:prstGeom prst="rect">
            <a:avLst/>
          </a:prstGeom>
          <a:noFill/>
        </p:spPr>
        <p:txBody>
          <a:bodyPr wrap="square" lIns="0" rIns="0" tIns="0" bIns="0">
            <a:spAutoFit/>
          </a:bodyPr>
          <a:lstStyle/>
          <a:p>
            <a:pPr>
              <a:spcAft>
                <a:spcPts val="500"/>
              </a:spcAft>
              <a:defRPr sz="2700" b="1">
                <a:solidFill>
                  <a:srgbClr val="19B7A4"/>
                </a:solidFill>
                <a:latin typeface="Aptos"/>
              </a:defRPr>
            </a:pPr>
            <a:r>
              <a:t>Zistenie</a:t>
            </a:r>
          </a:p>
        </p:txBody>
      </p:sp>
      <p:sp>
        <p:nvSpPr>
          <p:cNvPr id="10" name="TextBox 9"/>
          <p:cNvSpPr txBox="1"/>
          <p:nvPr/>
        </p:nvSpPr>
        <p:spPr>
          <a:xfrm>
            <a:off x="950976" y="3163824"/>
            <a:ext cx="2953512" cy="868680"/>
          </a:xfrm>
          <a:prstGeom prst="rect">
            <a:avLst/>
          </a:prstGeom>
          <a:noFill/>
        </p:spPr>
        <p:txBody>
          <a:bodyPr wrap="square" lIns="0" rIns="0" tIns="0" bIns="0">
            <a:spAutoFit/>
          </a:bodyPr>
          <a:lstStyle/>
          <a:p>
            <a:pPr>
              <a:spcAft>
                <a:spcPts val="500"/>
              </a:spcAft>
              <a:defRPr sz="2200" b="0">
                <a:solidFill>
                  <a:srgbClr val="F4F7FA"/>
                </a:solidFill>
                <a:latin typeface="Aptos"/>
              </a:defRPr>
            </a:pPr>
            <a:r>
              <a:t>Našli sme zbytočne</a:t>
            </a:r>
          </a:p>
          <a:p>
            <a:pPr>
              <a:spcAft>
                <a:spcPts val="500"/>
              </a:spcAft>
              <a:defRPr sz="2200" b="0">
                <a:solidFill>
                  <a:srgbClr val="F4F7FA"/>
                </a:solidFill>
                <a:latin typeface="Aptos"/>
              </a:defRPr>
            </a:pPr>
            <a:r>
              <a:t>opakované spracovanie.</a:t>
            </a:r>
          </a:p>
        </p:txBody>
      </p:sp>
      <p:sp>
        <p:nvSpPr>
          <p:cNvPr id="11" name="Rounded Rectangle 10"/>
          <p:cNvSpPr/>
          <p:nvPr/>
        </p:nvSpPr>
        <p:spPr>
          <a:xfrm>
            <a:off x="4462272" y="2011680"/>
            <a:ext cx="3456432" cy="2386584"/>
          </a:xfrm>
          <a:prstGeom prst="roundRect">
            <a:avLst>
              <a:gd name="adj" fmla="val 12000"/>
            </a:avLst>
          </a:prstGeom>
          <a:solidFill>
            <a:srgbClr val="1B2B4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00016" y="2368296"/>
            <a:ext cx="2953512" cy="448056"/>
          </a:xfrm>
          <a:prstGeom prst="rect">
            <a:avLst/>
          </a:prstGeom>
          <a:noFill/>
        </p:spPr>
        <p:txBody>
          <a:bodyPr wrap="square" lIns="0" rIns="0" tIns="0" bIns="0">
            <a:spAutoFit/>
          </a:bodyPr>
          <a:lstStyle/>
          <a:p>
            <a:pPr>
              <a:spcAft>
                <a:spcPts val="500"/>
              </a:spcAft>
              <a:defRPr sz="2700" b="1">
                <a:solidFill>
                  <a:srgbClr val="19B7A4"/>
                </a:solidFill>
                <a:latin typeface="Aptos"/>
              </a:defRPr>
            </a:pPr>
            <a:r>
              <a:t>Úprava</a:t>
            </a:r>
          </a:p>
        </p:txBody>
      </p:sp>
      <p:sp>
        <p:nvSpPr>
          <p:cNvPr id="13" name="TextBox 12"/>
          <p:cNvSpPr txBox="1"/>
          <p:nvPr/>
        </p:nvSpPr>
        <p:spPr>
          <a:xfrm>
            <a:off x="4700016" y="3163824"/>
            <a:ext cx="2953512" cy="868680"/>
          </a:xfrm>
          <a:prstGeom prst="rect">
            <a:avLst/>
          </a:prstGeom>
          <a:noFill/>
        </p:spPr>
        <p:txBody>
          <a:bodyPr wrap="square" lIns="0" rIns="0" tIns="0" bIns="0">
            <a:spAutoFit/>
          </a:bodyPr>
          <a:lstStyle/>
          <a:p>
            <a:pPr>
              <a:spcAft>
                <a:spcPts val="500"/>
              </a:spcAft>
              <a:defRPr sz="2200" b="0">
                <a:solidFill>
                  <a:srgbClr val="F4F7FA"/>
                </a:solidFill>
                <a:latin typeface="Aptos"/>
              </a:defRPr>
            </a:pPr>
            <a:r>
              <a:t>Znížili sme množstvo</a:t>
            </a:r>
          </a:p>
          <a:p>
            <a:pPr>
              <a:spcAft>
                <a:spcPts val="500"/>
              </a:spcAft>
              <a:defRPr sz="2200" b="0">
                <a:solidFill>
                  <a:srgbClr val="F4F7FA"/>
                </a:solidFill>
                <a:latin typeface="Aptos"/>
              </a:defRPr>
            </a:pPr>
            <a:r>
              <a:t>opakovanej práce.</a:t>
            </a:r>
          </a:p>
        </p:txBody>
      </p:sp>
      <p:sp>
        <p:nvSpPr>
          <p:cNvPr id="14" name="Rounded Rectangle 13"/>
          <p:cNvSpPr/>
          <p:nvPr/>
        </p:nvSpPr>
        <p:spPr>
          <a:xfrm>
            <a:off x="8211311" y="2011680"/>
            <a:ext cx="3456432" cy="2386584"/>
          </a:xfrm>
          <a:prstGeom prst="roundRect">
            <a:avLst>
              <a:gd name="adj" fmla="val 12000"/>
            </a:avLst>
          </a:prstGeom>
          <a:solidFill>
            <a:srgbClr val="1B2B4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49055" y="2368296"/>
            <a:ext cx="2953512" cy="448056"/>
          </a:xfrm>
          <a:prstGeom prst="rect">
            <a:avLst/>
          </a:prstGeom>
          <a:noFill/>
        </p:spPr>
        <p:txBody>
          <a:bodyPr wrap="square" lIns="0" rIns="0" tIns="0" bIns="0">
            <a:spAutoFit/>
          </a:bodyPr>
          <a:lstStyle/>
          <a:p>
            <a:pPr>
              <a:spcAft>
                <a:spcPts val="500"/>
              </a:spcAft>
              <a:defRPr sz="2700" b="1">
                <a:solidFill>
                  <a:srgbClr val="19B7A4"/>
                </a:solidFill>
                <a:latin typeface="Aptos"/>
              </a:defRPr>
            </a:pPr>
            <a:r>
              <a:t>Overenie</a:t>
            </a:r>
          </a:p>
        </p:txBody>
      </p:sp>
      <p:sp>
        <p:nvSpPr>
          <p:cNvPr id="16" name="TextBox 15"/>
          <p:cNvSpPr txBox="1"/>
          <p:nvPr/>
        </p:nvSpPr>
        <p:spPr>
          <a:xfrm>
            <a:off x="8449055" y="3163824"/>
            <a:ext cx="2953512" cy="868680"/>
          </a:xfrm>
          <a:prstGeom prst="rect">
            <a:avLst/>
          </a:prstGeom>
          <a:noFill/>
        </p:spPr>
        <p:txBody>
          <a:bodyPr wrap="square" lIns="0" rIns="0" tIns="0" bIns="0">
            <a:spAutoFit/>
          </a:bodyPr>
          <a:lstStyle/>
          <a:p>
            <a:pPr>
              <a:spcAft>
                <a:spcPts val="500"/>
              </a:spcAft>
              <a:defRPr sz="2200" b="0">
                <a:solidFill>
                  <a:srgbClr val="F4F7FA"/>
                </a:solidFill>
                <a:latin typeface="Aptos"/>
              </a:defRPr>
            </a:pPr>
            <a:r>
              <a:t>Potvrdili sme zrýchlenie</a:t>
            </a:r>
          </a:p>
          <a:p>
            <a:pPr>
              <a:spcAft>
                <a:spcPts val="500"/>
              </a:spcAft>
              <a:defRPr sz="2200" b="0">
                <a:solidFill>
                  <a:srgbClr val="F4F7FA"/>
                </a:solidFill>
                <a:latin typeface="Aptos"/>
              </a:defRPr>
            </a:pPr>
            <a:r>
              <a:t>a zhodnosť výsledkov.</a:t>
            </a:r>
          </a:p>
        </p:txBody>
      </p:sp>
      <p:sp>
        <p:nvSpPr>
          <p:cNvPr id="17" name="TextBox 16"/>
          <p:cNvSpPr txBox="1"/>
          <p:nvPr/>
        </p:nvSpPr>
        <p:spPr>
          <a:xfrm>
            <a:off x="777240" y="4782312"/>
            <a:ext cx="10607040" cy="603504"/>
          </a:xfrm>
          <a:prstGeom prst="rect">
            <a:avLst/>
          </a:prstGeom>
          <a:noFill/>
        </p:spPr>
        <p:txBody>
          <a:bodyPr wrap="square" lIns="0" rIns="0" tIns="0" bIns="0">
            <a:spAutoFit/>
          </a:bodyPr>
          <a:lstStyle/>
          <a:p>
            <a:pPr>
              <a:spcAft>
                <a:spcPts val="500"/>
              </a:spcAft>
              <a:defRPr sz="2300" b="0">
                <a:solidFill>
                  <a:srgbClr val="F4F7FA"/>
                </a:solidFill>
                <a:latin typeface="Aptos"/>
              </a:defRPr>
            </a:pPr>
            <a:r>
              <a:t>Meranie pomohlo vybrať účinnú úpravu a overiť jej výsledok.</a:t>
            </a:r>
          </a:p>
        </p:txBody>
      </p:sp>
      <p:sp>
        <p:nvSpPr>
          <p:cNvPr id="18" name="TextBox 17"/>
          <p:cNvSpPr txBox="1"/>
          <p:nvPr/>
        </p:nvSpPr>
        <p:spPr>
          <a:xfrm>
            <a:off x="786384" y="5705856"/>
            <a:ext cx="10652760" cy="466344"/>
          </a:xfrm>
          <a:prstGeom prst="rect">
            <a:avLst/>
          </a:prstGeom>
          <a:noFill/>
        </p:spPr>
        <p:txBody>
          <a:bodyPr wrap="square" lIns="0" rIns="0" tIns="0" bIns="0">
            <a:spAutoFit/>
          </a:bodyPr>
          <a:lstStyle/>
          <a:p>
            <a:pPr>
              <a:spcAft>
                <a:spcPts val="500"/>
              </a:spcAft>
              <a:defRPr sz="1200" b="0">
                <a:solidFill>
                  <a:srgbClr val="AEBED0"/>
                </a:solidFill>
                <a:latin typeface="Aptos"/>
              </a:defRPr>
            </a:pPr>
            <a:r>
              <a:t>Zdroje: zadanie KS · bakalárska práca autora · dokumentácia Grafana, Laravel a PHP.</a:t>
            </a:r>
          </a:p>
          <a:p>
            <a:pPr>
              <a:spcAft>
                <a:spcPts val="500"/>
              </a:spcAft>
              <a:defRPr sz="1200" b="0">
                <a:solidFill>
                  <a:srgbClr val="AEBED0"/>
                </a:solidFill>
                <a:latin typeface="Aptos"/>
              </a:defRPr>
            </a:pPr>
            <a:r>
              <a:t>Úplné odkazy sú v poznámkach a písomnej dokumentácii.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